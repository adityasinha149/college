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notesSlides/_rels/notesSlide7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6.xml.rels" ContentType="application/vnd.openxmlformats-package.relationships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5.png" ContentType="image/png"/>
  <Override PartName="/ppt/media/image4.png" ContentType="image/png"/>
  <Override PartName="/ppt/media/image3.png" ContentType="image/png"/>
  <Override PartName="/ppt/media/image1.jpeg" ContentType="image/jpeg"/>
  <Override PartName="/ppt/media/hdphoto1.wdp" ContentType="image/vnd.ms-photo"/>
  <Override PartName="/ppt/media/image2.png" ContentType="image/png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3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_rels/slide39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3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35.xml.rels" ContentType="application/vnd.openxmlformats-package.relationships+xml"/>
  <Override PartName="/ppt/slides/_rels/slide5.xml.rels" ContentType="application/vnd.openxmlformats-package.relationships+xml"/>
  <Override PartName="/ppt/slides/_rels/slide36.xml.rels" ContentType="application/vnd.openxmlformats-package.relationships+xml"/>
  <Override PartName="/ppt/slides/_rels/slide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0.xml.rels" ContentType="application/vnd.openxmlformats-package.relationships+xml"/>
  <Override PartName="/ppt/slides/_rels/slide25.xml.rels" ContentType="application/vnd.openxmlformats-package.relationships+xml"/>
  <Override PartName="/ppt/slides/_rels/slide31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32.xml.rels" ContentType="application/vnd.openxmlformats-package.relationships+xml"/>
  <Override PartName="/ppt/slides/_rels/slide28.xml.rels" ContentType="application/vnd.openxmlformats-package.relationships+xml"/>
  <Override PartName="/ppt/slides/_rels/slide10.xml.rels" ContentType="application/vnd.openxmlformats-package.relationships+xml"/>
  <Override PartName="/ppt/slides/_rels/slide29.xml.rels" ContentType="application/vnd.openxmlformats-package.relationships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71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A6F83345-B59C-40B9-84B6-7BE4D5765587}" type="slidenum">
              <a:rPr b="0" lang="en-US" sz="1400" spc="-1" strike="noStrike">
                <a:latin typeface="Times New Roman"/>
              </a:rPr>
              <a:t>1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Shape 1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D80D1E87-86FE-4677-9907-39E51609C08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+mn-ea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sldImg"/>
          </p:nvPr>
        </p:nvSpPr>
        <p:spPr>
          <a:xfrm>
            <a:off x="-955800" y="685800"/>
            <a:ext cx="8697600" cy="4893840"/>
          </a:xfrm>
          <a:prstGeom prst="rect">
            <a:avLst/>
          </a:prstGeom>
        </p:spPr>
      </p:sp>
      <p:sp>
        <p:nvSpPr>
          <p:cNvPr id="351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Shape 1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34A9CC7F-D58B-4C21-B31F-CB7D8EAF83BB}" type="slidenum">
              <a:rPr b="0" lang="en-US" sz="1200" spc="-1" strike="noStrike">
                <a:solidFill>
                  <a:srgbClr val="000000"/>
                </a:solidFill>
                <a:latin typeface="Arial"/>
                <a:ea typeface="+mn-ea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sldImg"/>
          </p:nvPr>
        </p:nvSpPr>
        <p:spPr>
          <a:xfrm>
            <a:off x="-955800" y="685800"/>
            <a:ext cx="8697600" cy="4893840"/>
          </a:xfrm>
          <a:prstGeom prst="rect">
            <a:avLst/>
          </a:prstGeom>
        </p:spPr>
      </p:sp>
      <p:sp>
        <p:nvSpPr>
          <p:cNvPr id="354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Shape 1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E1B4186B-CD0C-4581-A156-5C1AB478CD8A}" type="slidenum">
              <a:rPr b="0" lang="en-US" sz="1200" spc="-1" strike="noStrike">
                <a:solidFill>
                  <a:srgbClr val="000000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sldImg"/>
          </p:nvPr>
        </p:nvSpPr>
        <p:spPr>
          <a:xfrm>
            <a:off x="-955800" y="685800"/>
            <a:ext cx="8697600" cy="4893840"/>
          </a:xfrm>
          <a:prstGeom prst="rect">
            <a:avLst/>
          </a:prstGeom>
        </p:spPr>
      </p:sp>
      <p:sp>
        <p:nvSpPr>
          <p:cNvPr id="357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p>
            <a:endParaRPr b="0" lang="en-US" sz="2000" spc="-1" strike="noStrike">
              <a:latin typeface="Arial"/>
            </a:endParaRPr>
          </a:p>
        </p:txBody>
      </p:sp>
      <p:sp>
        <p:nvSpPr>
          <p:cNvPr id="36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EB66F973-049E-40FD-A412-2C756B16339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/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DF8BDD9C-CC42-4F96-A0AD-67156EB1DDE9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Bhargav Bhatkalkar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283CC696-EBEE-4999-9E73-41D8D9D07BD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/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4DE76298-75A6-4180-8450-4A47F5EC9EFD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Bhargav Bhatkalkar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401CACC5-48CD-4717-9695-FC7D4409843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Line 1"/>
          <p:cNvSpPr/>
          <p:nvPr/>
        </p:nvSpPr>
        <p:spPr>
          <a:xfrm>
            <a:off x="624240" y="765000"/>
            <a:ext cx="10943280" cy="360"/>
          </a:xfrm>
          <a:prstGeom prst="line">
            <a:avLst/>
          </a:prstGeom>
          <a:ln w="28440">
            <a:solidFill>
              <a:schemeClr val="accent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609480" y="189000"/>
            <a:ext cx="10972440" cy="57600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333399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09480" y="981000"/>
            <a:ext cx="10972440" cy="5327280"/>
          </a:xfrm>
          <a:prstGeom prst="rect">
            <a:avLst/>
          </a:prstGeom>
        </p:spPr>
        <p:txBody>
          <a:bodyPr/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4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2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tarSymbo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609480" y="6381720"/>
            <a:ext cx="2844360" cy="339480"/>
          </a:xfrm>
          <a:prstGeom prst="rect">
            <a:avLst/>
          </a:prstGeom>
        </p:spPr>
        <p:txBody>
          <a:bodyPr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4165560" y="6381720"/>
            <a:ext cx="3860280" cy="339480"/>
          </a:xfrm>
          <a:prstGeom prst="rect">
            <a:avLst/>
          </a:prstGeom>
        </p:spPr>
        <p:txBody>
          <a:bodyPr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8737560" y="6381720"/>
            <a:ext cx="2844360" cy="339480"/>
          </a:xfrm>
          <a:prstGeom prst="rect">
            <a:avLst/>
          </a:prstGeom>
        </p:spPr>
        <p:txBody>
          <a:bodyPr/>
          <a:p>
            <a:pPr algn="r">
              <a:lnSpc>
                <a:spcPct val="100000"/>
              </a:lnSpc>
            </a:pPr>
            <a:fld id="{E2E2E540-487C-45F0-BFF0-449351D7EDD3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1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Line 1"/>
          <p:cNvSpPr/>
          <p:nvPr/>
        </p:nvSpPr>
        <p:spPr>
          <a:xfrm>
            <a:off x="624240" y="765000"/>
            <a:ext cx="10943280" cy="360"/>
          </a:xfrm>
          <a:prstGeom prst="line">
            <a:avLst/>
          </a:prstGeom>
          <a:ln w="28440">
            <a:solidFill>
              <a:schemeClr val="accent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609480" y="189000"/>
            <a:ext cx="10972440" cy="57600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333399"/>
                </a:solidFill>
                <a:latin typeface="Arial"/>
              </a:rPr>
              <a:t>Click to edit Master </a:t>
            </a:r>
            <a:r>
              <a:rPr b="1" lang="en-US" sz="3600" spc="-1" strike="noStrike">
                <a:solidFill>
                  <a:srgbClr val="333399"/>
                </a:solidFill>
                <a:latin typeface="Arial"/>
              </a:rPr>
              <a:t>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dt"/>
          </p:nvPr>
        </p:nvSpPr>
        <p:spPr>
          <a:xfrm>
            <a:off x="609480" y="6381720"/>
            <a:ext cx="2844360" cy="339480"/>
          </a:xfrm>
          <a:prstGeom prst="rect">
            <a:avLst/>
          </a:prstGeom>
        </p:spPr>
        <p:txBody>
          <a:bodyPr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ftr"/>
          </p:nvPr>
        </p:nvSpPr>
        <p:spPr>
          <a:xfrm>
            <a:off x="4165560" y="6381720"/>
            <a:ext cx="3860280" cy="339480"/>
          </a:xfrm>
          <a:prstGeom prst="rect">
            <a:avLst/>
          </a:prstGeom>
        </p:spPr>
        <p:txBody>
          <a:bodyPr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sldNum"/>
          </p:nvPr>
        </p:nvSpPr>
        <p:spPr>
          <a:xfrm>
            <a:off x="8737560" y="6381720"/>
            <a:ext cx="2844360" cy="339480"/>
          </a:xfrm>
          <a:prstGeom prst="rect">
            <a:avLst/>
          </a:prstGeom>
        </p:spPr>
        <p:txBody>
          <a:bodyPr/>
          <a:p>
            <a:pPr algn="r">
              <a:lnSpc>
                <a:spcPct val="100000"/>
              </a:lnSpc>
            </a:pPr>
            <a:fld id="{27BD2C25-A32C-4B9B-B514-4AE7695E60B2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file:///home/radha/MIT/2024/Jan-July/PCAP/Module-1%20Resources%20(introduction)_22/data-space.png" TargetMode="External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microsoft.com/office/2007/relationships/hdphoto" Target="../media/hdphoto1.wdp"/><Relationship Id="rId3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file:///home/radha/MIT/2024/Jan-July/PCAP/Module-1%20Resources%20(introduction)_22/pipeline-computer.png" TargetMode="External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file:///home/radha/MIT/2024/Jan-July/PCAP/Module-1%20Resources%20(introduction)_22/Array-computer.PNG" TargetMode="External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file:///home/radha/MIT/2024/Jan-July/PCAP/Module-1%20Resources%20(introduction)_22/multiprocessor-system.png" TargetMode="External"/><Relationship Id="rId2" Type="http://schemas.openxmlformats.org/officeDocument/2006/relationships/hyperlink" Target="file:///home/radha/MIT/2024/Jan-July/PCAP/Module-1%20Resources%20(introduction)_22/multiprocessor-system.png" TargetMode="External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file:///home/radha/MIT/2024/Jan-July/PCAP/Module-1%20Resources%20(introduction)_22/SISD.png" TargetMode="External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file:///home/radha/MIT/2024/Jan-July/PCAP/Module-1%20Resources%20(introduction)_22/SIMD.png" TargetMode="External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file:///home/radha/MIT/2024/Jan-July/PCAP/Module-1%20Resources%20(introduction)_22/MISD.PNG" TargetMode="External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file:///home/radha/MIT/2024/Jan-July/PCAP/Module-1%20Resources%20(introduction)_22/MIMD.PNG" TargetMode="External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hyperlink" Target="file:///home/radha/MIT/2024/Jan-July/PCAP/Module-1%20Resources%20(introduction)_22/GPUvsCPU%20FP%20performance.png" TargetMode="External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hyperlink" Target="file:///home/radha/MIT/2024/Jan-July/PCAP/Module-1%20Resources%20(introduction)_22/GPUvsCPU%20archiecture.PNG" TargetMode="External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hyperlink" Target="file:///home/radha/MIT/2024/Jan-July/PCAP/Module-1%20Resources%20(introduction)_22/modern%20GPU-archiecture.PNG" TargetMode="External"/><Relationship Id="rId2" Type="http://schemas.openxmlformats.org/officeDocument/2006/relationships/hyperlink" Target="file:///home/radha/MIT/2024/Jan-July/PCAP/Module-1%20Resources%20(introduction)_22/CUDA-paper.pdf" TargetMode="External"/><Relationship Id="rId3" Type="http://schemas.openxmlformats.org/officeDocument/2006/relationships/hyperlink" Target="file:///home/radha/MIT/2024/Jan-July/PCAP/Module-1%20Resources%20(introduction)_22/Module-1%20Resources/CUDA-paper.pdf" TargetMode="External"/><Relationship Id="rId4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hyperlink" Target="https://create.pro/opencl-vs-cuda/" TargetMode="External"/><Relationship Id="rId2" Type="http://schemas.openxmlformats.org/officeDocument/2006/relationships/hyperlink" Target="https://blogs.nvidia.com/blog/2009/12/16/whats-the-difference-between-a-cpu-and-a-gpu/" TargetMode="External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Shap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ctr">
              <a:lnSpc>
                <a:spcPct val="90000"/>
              </a:lnSpc>
            </a:pP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Introduction to Parallel Architectures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TextShape 2"/>
          <p:cNvSpPr txBox="1"/>
          <p:nvPr/>
        </p:nvSpPr>
        <p:spPr>
          <a:xfrm>
            <a:off x="1214640" y="4079880"/>
            <a:ext cx="9143640" cy="16552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0" lang="en-US" sz="3200" spc="-1" strike="noStrike">
                <a:solidFill>
                  <a:srgbClr val="002060"/>
                </a:solidFill>
                <a:latin typeface="Calibri"/>
              </a:rPr>
              <a:t>5 Hours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4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1F337151-1799-49B8-933C-D9444FF89C47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75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D77A5F39-E3A8-46B5-8358-6338C1FE810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Shape 1"/>
          <p:cNvSpPr txBox="1"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Topics covered: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TextShape 2"/>
          <p:cNvSpPr txBox="1"/>
          <p:nvPr/>
        </p:nvSpPr>
        <p:spPr>
          <a:xfrm>
            <a:off x="838080" y="132552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51444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Introduction to Parallel Processing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Parallel Computer Structures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Architectural Classification Schemes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GPU as Parallel Computers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Architecture of a Modern GPU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Need for Parallelism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Parallel Programming Languages and Models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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400" spc="-1" strike="noStrike" u="sng">
                <a:solidFill>
                  <a:srgbClr val="000000"/>
                </a:solidFill>
                <a:uFillTx/>
                <a:latin typeface="Calibri"/>
              </a:rPr>
              <a:t>Please click on the links in following slides to display the relevant figures and web pages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6F7FF07A-6EED-4CB6-9FC8-7FC90B9BF1AB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79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AA7E0C9C-646B-4419-8A94-F9925900BB7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Shape 1"/>
          <p:cNvSpPr txBox="1"/>
          <p:nvPr/>
        </p:nvSpPr>
        <p:spPr>
          <a:xfrm>
            <a:off x="609480" y="80280"/>
            <a:ext cx="10972440" cy="5760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</a:rPr>
              <a:t>Parallel Programming</a:t>
            </a:r>
            <a:r>
              <a:rPr b="1" lang="en-US" sz="4000" spc="-333" strike="noStrike">
                <a:solidFill>
                  <a:srgbClr val="000000"/>
                </a:solidFill>
                <a:latin typeface="Arial"/>
              </a:rPr>
              <a:t>   </a:t>
            </a:r>
            <a:r>
              <a:rPr b="1" lang="en-US" sz="4000" spc="-1" strike="noStrike">
                <a:solidFill>
                  <a:srgbClr val="000000"/>
                </a:solidFill>
                <a:latin typeface="Arial"/>
              </a:rPr>
              <a:t>Analogy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Shape 2"/>
          <p:cNvSpPr txBox="1"/>
          <p:nvPr/>
        </p:nvSpPr>
        <p:spPr>
          <a:xfrm>
            <a:off x="609480" y="795960"/>
            <a:ext cx="10972440" cy="53272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100000"/>
              </a:lnSpc>
              <a:spcBef>
                <a:spcPts val="479"/>
              </a:spcBef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Shape 3"/>
          <p:cNvSpPr txBox="1"/>
          <p:nvPr/>
        </p:nvSpPr>
        <p:spPr>
          <a:xfrm>
            <a:off x="609480" y="6381720"/>
            <a:ext cx="2844360" cy="339480"/>
          </a:xfrm>
          <a:prstGeom prst="rect">
            <a:avLst/>
          </a:prstGeom>
          <a:noFill/>
          <a:ln w="9360">
            <a:noFill/>
          </a:ln>
        </p:spPr>
        <p:txBody>
          <a:bodyPr/>
          <a:p>
            <a:pPr>
              <a:lnSpc>
                <a:spcPct val="100000"/>
              </a:lnSpc>
            </a:pPr>
            <a:fld id="{533D44DA-5384-4B29-9F86-54CC52977B4F}" type="datetime1">
              <a:rPr b="0" lang="en-US" sz="1400" spc="-1" strike="noStrike">
                <a:solidFill>
                  <a:srgbClr val="000000"/>
                </a:solidFill>
                <a:latin typeface="Arial"/>
              </a:rPr>
              <a:t>01/16/2024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83" name="TextShape 4"/>
          <p:cNvSpPr txBox="1"/>
          <p:nvPr/>
        </p:nvSpPr>
        <p:spPr>
          <a:xfrm>
            <a:off x="8737560" y="6381720"/>
            <a:ext cx="2844360" cy="339480"/>
          </a:xfrm>
          <a:prstGeom prst="rect">
            <a:avLst/>
          </a:prstGeom>
          <a:noFill/>
          <a:ln w="9360">
            <a:noFill/>
          </a:ln>
        </p:spPr>
        <p:txBody>
          <a:bodyPr/>
          <a:p>
            <a:pPr algn="r">
              <a:lnSpc>
                <a:spcPct val="100000"/>
              </a:lnSpc>
            </a:pPr>
            <a:fld id="{57D14557-5AD2-4645-ADF2-281822BE4745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84" name="CustomShape 5"/>
          <p:cNvSpPr/>
          <p:nvPr/>
        </p:nvSpPr>
        <p:spPr>
          <a:xfrm>
            <a:off x="1472400" y="914400"/>
            <a:ext cx="9246960" cy="546696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1523880" y="0"/>
            <a:ext cx="9143640" cy="6930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Shape 2"/>
          <p:cNvSpPr txBox="1"/>
          <p:nvPr/>
        </p:nvSpPr>
        <p:spPr>
          <a:xfrm>
            <a:off x="3589200" y="-328680"/>
            <a:ext cx="5011200" cy="1353600"/>
          </a:xfrm>
          <a:prstGeom prst="rect">
            <a:avLst/>
          </a:prstGeom>
          <a:noFill/>
          <a:ln>
            <a:noFill/>
          </a:ln>
        </p:spPr>
        <p:txBody>
          <a:bodyPr lIns="0" rIns="0" tIns="12600" bIns="0" anchor="ctr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Realistic</a:t>
            </a:r>
            <a:r>
              <a:rPr b="1" lang="en-US" sz="4400" spc="-83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Expectations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2073600" y="995760"/>
            <a:ext cx="5179320" cy="217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2240" bIns="0"/>
          <a:p>
            <a:pPr marL="241200" indent="-228240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4" strike="noStrike">
                <a:solidFill>
                  <a:srgbClr val="000000"/>
                </a:solidFill>
                <a:latin typeface="Calibri"/>
              </a:rPr>
              <a:t>Ex.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– </a:t>
            </a:r>
            <a:r>
              <a:rPr b="0" lang="en-US" sz="2400" spc="-63" strike="noStrike">
                <a:solidFill>
                  <a:srgbClr val="000000"/>
                </a:solidFill>
                <a:latin typeface="Calibri"/>
              </a:rPr>
              <a:t>Your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program takes 20 </a:t>
            </a:r>
            <a:r>
              <a:rPr b="0" lang="en-US" sz="2400" spc="-4" strike="noStrike">
                <a:solidFill>
                  <a:srgbClr val="000000"/>
                </a:solidFill>
                <a:latin typeface="Calibri"/>
              </a:rPr>
              <a:t>days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400" spc="-11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run</a:t>
            </a:r>
            <a:endParaRPr b="0" lang="en-US" sz="2400" spc="-1" strike="noStrike">
              <a:latin typeface="Arial"/>
            </a:endParaRPr>
          </a:p>
          <a:p>
            <a:pPr marL="241200" indent="-22824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95% can be</a:t>
            </a:r>
            <a:r>
              <a:rPr b="0" lang="en-US" sz="2400" spc="-2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4" strike="noStrike">
                <a:solidFill>
                  <a:srgbClr val="000000"/>
                </a:solidFill>
                <a:latin typeface="Calibri"/>
              </a:rPr>
              <a:t>parallelized</a:t>
            </a:r>
            <a:endParaRPr b="0" lang="en-US" sz="2400" spc="-1" strike="noStrike">
              <a:latin typeface="Arial"/>
            </a:endParaRPr>
          </a:p>
          <a:p>
            <a:pPr marL="241200" indent="-22824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5% cannot</a:t>
            </a:r>
            <a:r>
              <a:rPr b="0" lang="en-US" sz="2400" spc="-24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(serial)</a:t>
            </a:r>
            <a:endParaRPr b="0" lang="en-US" sz="2400" spc="-1" strike="noStrike">
              <a:latin typeface="Arial"/>
            </a:endParaRPr>
          </a:p>
          <a:p>
            <a:pPr marL="241200" indent="-22824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9" strike="noStrike">
                <a:solidFill>
                  <a:srgbClr val="000000"/>
                </a:solidFill>
                <a:latin typeface="Calibri"/>
              </a:rPr>
              <a:t>What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the </a:t>
            </a:r>
            <a:r>
              <a:rPr b="0" lang="en-US" sz="2400" spc="-4" strike="noStrike">
                <a:solidFill>
                  <a:srgbClr val="000000"/>
                </a:solidFill>
                <a:latin typeface="Calibri"/>
              </a:rPr>
              <a:t>fastest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this </a:t>
            </a:r>
            <a:r>
              <a:rPr b="0" lang="en-US" sz="2400" spc="-4" strike="noStrike">
                <a:solidFill>
                  <a:srgbClr val="000000"/>
                </a:solidFill>
                <a:latin typeface="Calibri"/>
              </a:rPr>
              <a:t>code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can</a:t>
            </a:r>
            <a:r>
              <a:rPr b="0" lang="en-US" sz="2400" spc="-5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run?</a:t>
            </a:r>
            <a:endParaRPr b="0" lang="en-US" sz="2400" spc="-1" strike="noStrike">
              <a:latin typeface="Arial"/>
            </a:endParaRPr>
          </a:p>
          <a:p>
            <a:pPr lvl="1" marL="698040" indent="-22824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As </a:t>
            </a:r>
            <a:r>
              <a:rPr b="0" lang="en-US" sz="2000" spc="-4" strike="noStrike">
                <a:solidFill>
                  <a:srgbClr val="000000"/>
                </a:solidFill>
                <a:latin typeface="Calibri"/>
              </a:rPr>
              <a:t>many </a:t>
            </a:r>
            <a:r>
              <a:rPr b="0" lang="en-US" sz="2000" spc="-18" strike="noStrike">
                <a:solidFill>
                  <a:srgbClr val="000000"/>
                </a:solidFill>
                <a:latin typeface="Calibri"/>
              </a:rPr>
              <a:t>CPU’s </a:t>
            </a:r>
            <a:r>
              <a:rPr b="0" lang="en-US" sz="2000" spc="-4" strike="noStrike">
                <a:solidFill>
                  <a:srgbClr val="000000"/>
                </a:solidFill>
                <a:latin typeface="Calibri"/>
              </a:rPr>
              <a:t>as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you</a:t>
            </a:r>
            <a:r>
              <a:rPr b="0" lang="en-US" sz="2000" spc="-18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want!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8" name="CustomShape 4"/>
          <p:cNvSpPr/>
          <p:nvPr/>
        </p:nvSpPr>
        <p:spPr>
          <a:xfrm>
            <a:off x="5324760" y="3857400"/>
            <a:ext cx="1541880" cy="520200"/>
          </a:xfrm>
          <a:prstGeom prst="rect">
            <a:avLst/>
          </a:prstGeom>
          <a:solidFill>
            <a:srgbClr val="ffe699"/>
          </a:solidFill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32400" bIns="0"/>
          <a:p>
            <a:pPr marL="255960">
              <a:lnSpc>
                <a:spcPct val="100000"/>
              </a:lnSpc>
              <a:spcBef>
                <a:spcPts val="255"/>
              </a:spcBef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1</a:t>
            </a:r>
            <a:r>
              <a:rPr b="0" lang="en-US" sz="32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3200" spc="4" strike="noStrike">
                <a:solidFill>
                  <a:srgbClr val="000000"/>
                </a:solidFill>
                <a:latin typeface="Times New Roman"/>
              </a:rPr>
              <a:t>day!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9" name="CustomShape 5"/>
          <p:cNvSpPr/>
          <p:nvPr/>
        </p:nvSpPr>
        <p:spPr>
          <a:xfrm>
            <a:off x="4880160" y="4867920"/>
            <a:ext cx="2431800" cy="50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US" sz="3200" spc="-18" strike="noStrike">
                <a:solidFill>
                  <a:srgbClr val="000000"/>
                </a:solidFill>
                <a:latin typeface="Times New Roman"/>
              </a:rPr>
              <a:t>Amdahl’s</a:t>
            </a:r>
            <a:r>
              <a:rPr b="0" lang="en-US" sz="3200" spc="-11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Law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0" name="CustomShape 6"/>
          <p:cNvSpPr/>
          <p:nvPr/>
        </p:nvSpPr>
        <p:spPr>
          <a:xfrm>
            <a:off x="103320" y="5545440"/>
            <a:ext cx="11916360" cy="1046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rmAutofit/>
          </a:bodyPr>
          <a:p>
            <a:pPr marL="228600" indent="-228240" algn="ctr">
              <a:lnSpc>
                <a:spcPct val="90000"/>
              </a:lnSpc>
              <a:spcBef>
                <a:spcPts val="1001"/>
              </a:spcBef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 Rounded MT Bold"/>
              </a:rPr>
              <a:t>The performance improvement to be gained from using some </a:t>
            </a:r>
            <a:r>
              <a:rPr b="0" lang="en-US" sz="2400" spc="-1" strike="noStrike">
                <a:solidFill>
                  <a:srgbClr val="c00000"/>
                </a:solidFill>
                <a:latin typeface="Arial Rounded MT Bold"/>
              </a:rPr>
              <a:t>faster mode </a:t>
            </a:r>
            <a:r>
              <a:rPr b="0" lang="en-US" sz="2400" spc="-1" strike="noStrike">
                <a:solidFill>
                  <a:srgbClr val="000000"/>
                </a:solidFill>
                <a:latin typeface="Arial Rounded MT Bold"/>
              </a:rPr>
              <a:t>of execution is </a:t>
            </a:r>
            <a:r>
              <a:rPr b="0" lang="en-US" sz="2400" spc="-1" strike="noStrike">
                <a:solidFill>
                  <a:srgbClr val="c00000"/>
                </a:solidFill>
                <a:latin typeface="Arial Rounded MT Bold"/>
              </a:rPr>
              <a:t>limited</a:t>
            </a:r>
            <a:r>
              <a:rPr b="0" lang="en-US" sz="2400" spc="-1" strike="noStrike">
                <a:solidFill>
                  <a:srgbClr val="000000"/>
                </a:solidFill>
                <a:latin typeface="Arial Rounded MT Bold"/>
              </a:rPr>
              <a:t> by the fraction of the time the faster mode can be used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1" name="CustomShape 7"/>
          <p:cNvSpPr/>
          <p:nvPr/>
        </p:nvSpPr>
        <p:spPr>
          <a:xfrm>
            <a:off x="8019360" y="3840480"/>
            <a:ext cx="2318040" cy="520200"/>
          </a:xfrm>
          <a:prstGeom prst="rect">
            <a:avLst/>
          </a:prstGeom>
          <a:solidFill>
            <a:srgbClr val="ffe699"/>
          </a:solidFill>
          <a:ln w="90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32400" bIns="0"/>
          <a:p>
            <a:pPr marL="255960">
              <a:lnSpc>
                <a:spcPct val="100000"/>
              </a:lnSpc>
              <a:spcBef>
                <a:spcPts val="255"/>
              </a:spcBef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(5/100)*20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2" name="CustomShape 8"/>
          <p:cNvSpPr/>
          <p:nvPr/>
        </p:nvSpPr>
        <p:spPr>
          <a:xfrm>
            <a:off x="7002360" y="3962520"/>
            <a:ext cx="881640" cy="228600"/>
          </a:xfrm>
          <a:prstGeom prst="rightArrow">
            <a:avLst>
              <a:gd name="adj1" fmla="val 50000"/>
              <a:gd name="adj2" fmla="val 5000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Shape 1"/>
          <p:cNvSpPr txBox="1"/>
          <p:nvPr/>
        </p:nvSpPr>
        <p:spPr>
          <a:xfrm>
            <a:off x="8737560" y="6381720"/>
            <a:ext cx="2844360" cy="339480"/>
          </a:xfrm>
          <a:prstGeom prst="rect">
            <a:avLst/>
          </a:prstGeom>
          <a:noFill/>
          <a:ln w="9360">
            <a:noFill/>
          </a:ln>
        </p:spPr>
        <p:txBody>
          <a:bodyPr/>
          <a:p>
            <a:pPr algn="r">
              <a:lnSpc>
                <a:spcPct val="100000"/>
              </a:lnSpc>
            </a:pPr>
            <a:fld id="{66C4378C-5D5F-4413-BB17-15493148A30B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94" name="TextShape 2"/>
          <p:cNvSpPr txBox="1"/>
          <p:nvPr/>
        </p:nvSpPr>
        <p:spPr>
          <a:xfrm>
            <a:off x="4440240" y="0"/>
            <a:ext cx="2437920" cy="6868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Speedup (S)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Shape 3"/>
          <p:cNvSpPr txBox="1"/>
          <p:nvPr/>
        </p:nvSpPr>
        <p:spPr>
          <a:xfrm>
            <a:off x="2063880" y="1197000"/>
            <a:ext cx="8229240" cy="35809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 = Speed(new) / Speed(old)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 = Work(new) / time(old)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 = time(old) / time(new)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 = time(before improvement) /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time(after improvement)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Shape 1"/>
          <p:cNvSpPr txBox="1"/>
          <p:nvPr/>
        </p:nvSpPr>
        <p:spPr>
          <a:xfrm>
            <a:off x="8737560" y="6381720"/>
            <a:ext cx="2844360" cy="339480"/>
          </a:xfrm>
          <a:prstGeom prst="rect">
            <a:avLst/>
          </a:prstGeom>
          <a:noFill/>
          <a:ln w="9360">
            <a:noFill/>
          </a:ln>
        </p:spPr>
        <p:txBody>
          <a:bodyPr/>
          <a:p>
            <a:pPr algn="r">
              <a:lnSpc>
                <a:spcPct val="100000"/>
              </a:lnSpc>
            </a:pPr>
            <a:fld id="{C11410A0-0035-4AEF-89EC-1D50B304FFD0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97" name="Line 2"/>
          <p:cNvSpPr/>
          <p:nvPr/>
        </p:nvSpPr>
        <p:spPr>
          <a:xfrm>
            <a:off x="3195360" y="3028680"/>
            <a:ext cx="6129360" cy="360"/>
          </a:xfrm>
          <a:prstGeom prst="line">
            <a:avLst/>
          </a:prstGeom>
          <a:ln w="28440">
            <a:solidFill>
              <a:schemeClr val="tx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CustomShape 3"/>
          <p:cNvSpPr/>
          <p:nvPr/>
        </p:nvSpPr>
        <p:spPr>
          <a:xfrm>
            <a:off x="3166920" y="2771640"/>
            <a:ext cx="1299960" cy="242640"/>
          </a:xfrm>
          <a:prstGeom prst="rect">
            <a:avLst/>
          </a:prstGeom>
          <a:solidFill>
            <a:schemeClr val="accent1"/>
          </a:solidFill>
          <a:ln w="9360">
            <a:solidFill>
              <a:schemeClr val="tx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CustomShape 4"/>
          <p:cNvSpPr/>
          <p:nvPr/>
        </p:nvSpPr>
        <p:spPr>
          <a:xfrm>
            <a:off x="3079080" y="2230560"/>
            <a:ext cx="12999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6600"/>
                </a:solidFill>
                <a:latin typeface="Tahoma"/>
              </a:rPr>
              <a:t>20 hours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0" name="CustomShape 5"/>
          <p:cNvSpPr/>
          <p:nvPr/>
        </p:nvSpPr>
        <p:spPr>
          <a:xfrm>
            <a:off x="5662080" y="3287880"/>
            <a:ext cx="142308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200 miles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1" name="CustomShape 6"/>
          <p:cNvSpPr/>
          <p:nvPr/>
        </p:nvSpPr>
        <p:spPr>
          <a:xfrm>
            <a:off x="2507040" y="2795760"/>
            <a:ext cx="3884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2" name="CustomShape 7"/>
          <p:cNvSpPr/>
          <p:nvPr/>
        </p:nvSpPr>
        <p:spPr>
          <a:xfrm>
            <a:off x="9291600" y="2781360"/>
            <a:ext cx="3884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3" name="Line 8"/>
          <p:cNvSpPr/>
          <p:nvPr/>
        </p:nvSpPr>
        <p:spPr>
          <a:xfrm>
            <a:off x="4481280" y="2014200"/>
            <a:ext cx="360" cy="1643400"/>
          </a:xfrm>
          <a:prstGeom prst="line">
            <a:avLst/>
          </a:prstGeom>
          <a:ln w="9360">
            <a:solidFill>
              <a:schemeClr val="tx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CustomShape 9"/>
          <p:cNvSpPr/>
          <p:nvPr/>
        </p:nvSpPr>
        <p:spPr>
          <a:xfrm>
            <a:off x="1717560" y="4118040"/>
            <a:ext cx="8708760" cy="191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Walk 4 miles /hour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Bike 10 miles / hour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Car-1 50 miles / hour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Car-2 120 miles / hour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Car-3 600 miles /hour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5" name="CustomShape 10"/>
          <p:cNvSpPr/>
          <p:nvPr/>
        </p:nvSpPr>
        <p:spPr>
          <a:xfrm>
            <a:off x="2837520" y="3259080"/>
            <a:ext cx="148428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ff0000"/>
                </a:solidFill>
                <a:latin typeface="Tahoma"/>
              </a:rPr>
              <a:t>must walk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6" name="TextShape 11"/>
          <p:cNvSpPr txBox="1"/>
          <p:nvPr/>
        </p:nvSpPr>
        <p:spPr>
          <a:xfrm>
            <a:off x="3359160" y="115920"/>
            <a:ext cx="3809520" cy="60912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Example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Shape 1"/>
          <p:cNvSpPr txBox="1"/>
          <p:nvPr/>
        </p:nvSpPr>
        <p:spPr>
          <a:xfrm>
            <a:off x="8737560" y="6381720"/>
            <a:ext cx="2844360" cy="339480"/>
          </a:xfrm>
          <a:prstGeom prst="rect">
            <a:avLst/>
          </a:prstGeom>
          <a:noFill/>
          <a:ln w="9360">
            <a:noFill/>
          </a:ln>
        </p:spPr>
        <p:txBody>
          <a:bodyPr/>
          <a:p>
            <a:pPr algn="r">
              <a:lnSpc>
                <a:spcPct val="100000"/>
              </a:lnSpc>
            </a:pPr>
            <a:fld id="{0008201B-E44B-449F-AE84-973A358602A3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1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08" name="Line 2"/>
          <p:cNvSpPr/>
          <p:nvPr/>
        </p:nvSpPr>
        <p:spPr>
          <a:xfrm>
            <a:off x="3195360" y="3028680"/>
            <a:ext cx="6129360" cy="360"/>
          </a:xfrm>
          <a:prstGeom prst="line">
            <a:avLst/>
          </a:prstGeom>
          <a:ln w="28440">
            <a:solidFill>
              <a:schemeClr val="tx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CustomShape 3"/>
          <p:cNvSpPr/>
          <p:nvPr/>
        </p:nvSpPr>
        <p:spPr>
          <a:xfrm>
            <a:off x="3166920" y="2771640"/>
            <a:ext cx="1299960" cy="242640"/>
          </a:xfrm>
          <a:prstGeom prst="rect">
            <a:avLst/>
          </a:prstGeom>
          <a:solidFill>
            <a:schemeClr val="accent1"/>
          </a:solidFill>
          <a:ln w="9360">
            <a:solidFill>
              <a:schemeClr val="tx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CustomShape 4"/>
          <p:cNvSpPr/>
          <p:nvPr/>
        </p:nvSpPr>
        <p:spPr>
          <a:xfrm>
            <a:off x="3079080" y="2230560"/>
            <a:ext cx="12999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6600"/>
                </a:solidFill>
                <a:latin typeface="Tahoma"/>
              </a:rPr>
              <a:t>20 hours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1" name="CustomShape 5"/>
          <p:cNvSpPr/>
          <p:nvPr/>
        </p:nvSpPr>
        <p:spPr>
          <a:xfrm>
            <a:off x="5662080" y="3287880"/>
            <a:ext cx="142308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200 miles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2" name="CustomShape 6"/>
          <p:cNvSpPr/>
          <p:nvPr/>
        </p:nvSpPr>
        <p:spPr>
          <a:xfrm>
            <a:off x="2507040" y="2795760"/>
            <a:ext cx="3884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3" name="CustomShape 7"/>
          <p:cNvSpPr/>
          <p:nvPr/>
        </p:nvSpPr>
        <p:spPr>
          <a:xfrm>
            <a:off x="9291600" y="2781360"/>
            <a:ext cx="3884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4" name="Line 8"/>
          <p:cNvSpPr/>
          <p:nvPr/>
        </p:nvSpPr>
        <p:spPr>
          <a:xfrm>
            <a:off x="4481280" y="2014200"/>
            <a:ext cx="360" cy="1643400"/>
          </a:xfrm>
          <a:prstGeom prst="line">
            <a:avLst/>
          </a:prstGeom>
          <a:ln w="9360">
            <a:solidFill>
              <a:schemeClr val="tx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CustomShape 9"/>
          <p:cNvSpPr/>
          <p:nvPr/>
        </p:nvSpPr>
        <p:spPr>
          <a:xfrm>
            <a:off x="1717560" y="4118040"/>
            <a:ext cx="9387360" cy="264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Walk 4 miles /hour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      </a:t>
            </a:r>
            <a:r>
              <a:rPr b="0" lang="en-US" sz="2400" spc="-1" strike="noStrike">
                <a:solidFill>
                  <a:srgbClr val="660033"/>
                </a:solidFill>
                <a:latin typeface="Wingdings"/>
              </a:rPr>
              <a:t>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  50 + </a:t>
            </a:r>
            <a:r>
              <a:rPr b="1" lang="en-US" sz="2400" spc="-1" strike="noStrike">
                <a:solidFill>
                  <a:srgbClr val="ff0000"/>
                </a:solidFill>
                <a:latin typeface="Tahoma"/>
              </a:rPr>
              <a:t>20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= 70 hours         </a:t>
            </a:r>
            <a:r>
              <a:rPr b="0" lang="en-US" sz="2400" spc="-1" strike="noStrike">
                <a:solidFill>
                  <a:srgbClr val="006600"/>
                </a:solidFill>
                <a:latin typeface="Tahoma"/>
              </a:rPr>
              <a:t>S = 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Bike 10 miles / hour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    </a:t>
            </a:r>
            <a:r>
              <a:rPr b="0" lang="en-US" sz="2400" spc="-1" strike="noStrike">
                <a:solidFill>
                  <a:srgbClr val="660033"/>
                </a:solidFill>
                <a:latin typeface="Wingdings"/>
              </a:rPr>
              <a:t>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  20 + </a:t>
            </a:r>
            <a:r>
              <a:rPr b="1" lang="en-US" sz="2400" spc="-1" strike="noStrike">
                <a:solidFill>
                  <a:srgbClr val="ff0000"/>
                </a:solidFill>
                <a:latin typeface="Tahoma"/>
              </a:rPr>
              <a:t>20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= 40 hours         </a:t>
            </a:r>
            <a:r>
              <a:rPr b="0" lang="en-US" sz="2400" spc="-1" strike="noStrike">
                <a:solidFill>
                  <a:srgbClr val="006600"/>
                </a:solidFill>
                <a:latin typeface="Tahoma"/>
              </a:rPr>
              <a:t>S = 1.8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Car-1 50 miles / hour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  </a:t>
            </a:r>
            <a:r>
              <a:rPr b="0" lang="en-US" sz="2400" spc="-1" strike="noStrike">
                <a:solidFill>
                  <a:srgbClr val="660033"/>
                </a:solidFill>
                <a:latin typeface="Wingdings"/>
              </a:rPr>
              <a:t>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    4 + </a:t>
            </a:r>
            <a:r>
              <a:rPr b="1" lang="en-US" sz="2400" spc="-1" strike="noStrike">
                <a:solidFill>
                  <a:srgbClr val="ff0000"/>
                </a:solidFill>
                <a:latin typeface="Tahoma"/>
              </a:rPr>
              <a:t>20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= 24 hours         </a:t>
            </a:r>
            <a:r>
              <a:rPr b="0" lang="en-US" sz="2400" spc="-1" strike="noStrike">
                <a:solidFill>
                  <a:srgbClr val="006600"/>
                </a:solidFill>
                <a:latin typeface="Tahoma"/>
              </a:rPr>
              <a:t>S = 2.9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Car-2 120 miles / hour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</a:t>
            </a:r>
            <a:r>
              <a:rPr b="0" lang="en-US" sz="2400" spc="-1" strike="noStrike">
                <a:solidFill>
                  <a:srgbClr val="660033"/>
                </a:solidFill>
                <a:latin typeface="Wingdings"/>
              </a:rPr>
              <a:t>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1.67 + </a:t>
            </a:r>
            <a:r>
              <a:rPr b="1" lang="en-US" sz="2400" spc="-1" strike="noStrike">
                <a:solidFill>
                  <a:srgbClr val="ff0000"/>
                </a:solidFill>
                <a:latin typeface="Tahoma"/>
              </a:rPr>
              <a:t>20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= 21.67 hours    </a:t>
            </a:r>
            <a:r>
              <a:rPr b="0" lang="en-US" sz="2400" spc="-1" strike="noStrike">
                <a:solidFill>
                  <a:srgbClr val="006600"/>
                </a:solidFill>
                <a:latin typeface="Tahoma"/>
              </a:rPr>
              <a:t>S = 3.2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Car-3 600 miles /hour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 </a:t>
            </a:r>
            <a:r>
              <a:rPr b="0" lang="en-US" sz="2400" spc="-1" strike="noStrike">
                <a:solidFill>
                  <a:srgbClr val="660033"/>
                </a:solidFill>
                <a:latin typeface="Wingdings"/>
              </a:rPr>
              <a:t>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0.33 + </a:t>
            </a:r>
            <a:r>
              <a:rPr b="1" lang="en-US" sz="2400" spc="-1" strike="noStrike">
                <a:solidFill>
                  <a:srgbClr val="ff0000"/>
                </a:solidFill>
                <a:latin typeface="Tahoma"/>
              </a:rPr>
              <a:t>20</a:t>
            </a:r>
            <a:r>
              <a:rPr b="0" lang="en-US" sz="2400" spc="-1" strike="noStrike">
                <a:solidFill>
                  <a:srgbClr val="660033"/>
                </a:solidFill>
                <a:latin typeface="Tahoma"/>
              </a:rPr>
              <a:t> = 20.33 hours    </a:t>
            </a:r>
            <a:r>
              <a:rPr b="0" lang="en-US" sz="2400" spc="-1" strike="noStrike">
                <a:solidFill>
                  <a:srgbClr val="006600"/>
                </a:solidFill>
                <a:latin typeface="Tahoma"/>
              </a:rPr>
              <a:t>S = 3.4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6" name="CustomShape 10"/>
          <p:cNvSpPr/>
          <p:nvPr/>
        </p:nvSpPr>
        <p:spPr>
          <a:xfrm>
            <a:off x="2837520" y="3259080"/>
            <a:ext cx="148428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ff0000"/>
                </a:solidFill>
                <a:latin typeface="Tahoma"/>
              </a:rPr>
              <a:t>must walk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7" name="TextShape 11"/>
          <p:cNvSpPr txBox="1"/>
          <p:nvPr/>
        </p:nvSpPr>
        <p:spPr>
          <a:xfrm>
            <a:off x="3935520" y="189000"/>
            <a:ext cx="3809520" cy="60912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Example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Introduction to Parallel Processing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9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The trends towards parallel processing can be seen from: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Application point of view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Operating system point of view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0C509DD4-FA42-49DF-86A5-AEB21B1D3DFB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21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2383E35F-D73B-48ED-AF7F-AB9A1A33E5F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Shape 1"/>
          <p:cNvSpPr txBox="1"/>
          <p:nvPr/>
        </p:nvSpPr>
        <p:spPr>
          <a:xfrm>
            <a:off x="408960" y="159120"/>
            <a:ext cx="11256480" cy="5887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457200" indent="-456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1" i="1" lang="en-US" sz="2800" spc="-1" strike="noStrike">
                <a:solidFill>
                  <a:srgbClr val="000000"/>
                </a:solidFill>
                <a:latin typeface="Calibri"/>
              </a:rPr>
              <a:t>Application point of view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computers are experiencing a trend of four ascending levels of sophistication: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176040" indent="-17568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Data Processing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Data objects include numbers, characters, images, audio, video,  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                                  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multidimensional measures etc.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Information Processing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Information item is a collection of data objects that are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                                                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related by some syntactic structure or relation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Knowledge Processing 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Knowledge consists of information items plus some semantic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      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meanings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Intelligence Processing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Intelligence is derived from a collection of knowledge items.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Data-space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TextShape 2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A6FC7B06-D1F2-459B-9752-0E4C288F948B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24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FB841A49-855E-4166-AF53-6FFE3F08ED0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 txBox="1"/>
          <p:nvPr/>
        </p:nvSpPr>
        <p:spPr>
          <a:xfrm>
            <a:off x="438840" y="225000"/>
            <a:ext cx="1093068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i="1" lang="en-US" sz="2800" spc="-1" strike="noStrike">
                <a:solidFill>
                  <a:srgbClr val="000000"/>
                </a:solidFill>
                <a:latin typeface="Calibri"/>
              </a:rPr>
              <a:t>2. Operating system point of view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computer systems have improved chronologically in four phases: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Batch Processing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Multiprogramming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Time Sharing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Multiprocessing(refer text book)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CustomShape 2"/>
          <p:cNvSpPr/>
          <p:nvPr/>
        </p:nvSpPr>
        <p:spPr>
          <a:xfrm>
            <a:off x="2810160" y="1556640"/>
            <a:ext cx="324000" cy="1688400"/>
          </a:xfrm>
          <a:prstGeom prst="downArrow">
            <a:avLst>
              <a:gd name="adj1" fmla="val 50000"/>
              <a:gd name="adj2" fmla="val 5000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CustomShape 3"/>
          <p:cNvSpPr/>
          <p:nvPr/>
        </p:nvSpPr>
        <p:spPr>
          <a:xfrm>
            <a:off x="3134520" y="1946880"/>
            <a:ext cx="905688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00000"/>
                </a:solidFill>
                <a:latin typeface="Calibri"/>
              </a:rPr>
              <a:t>Parallel processing of information increases sharply by exploiting 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concurrent events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8" name="CustomShape 4"/>
          <p:cNvSpPr/>
          <p:nvPr/>
        </p:nvSpPr>
        <p:spPr>
          <a:xfrm>
            <a:off x="630360" y="3759120"/>
            <a:ext cx="838656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Concurrency </a:t>
            </a:r>
            <a:r>
              <a:rPr b="1" lang="en-US" sz="2000" spc="-1" strike="noStrike">
                <a:solidFill>
                  <a:srgbClr val="002060"/>
                </a:solidFill>
                <a:latin typeface="Wingdings"/>
              </a:rPr>
              <a:t>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implies parallelism, simultaneity, and pipelining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9" name="CustomShape 5"/>
          <p:cNvSpPr/>
          <p:nvPr/>
        </p:nvSpPr>
        <p:spPr>
          <a:xfrm>
            <a:off x="630360" y="4376520"/>
            <a:ext cx="1027440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Parallelism</a:t>
            </a:r>
            <a:r>
              <a:rPr b="1" lang="en-US" sz="2000" spc="-1" strike="noStrike">
                <a:solidFill>
                  <a:srgbClr val="002060"/>
                </a:solidFill>
                <a:latin typeface="Wingdings"/>
              </a:rPr>
              <a:t>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Parallel events may occur in multiple resources during the </a:t>
            </a:r>
            <a:r>
              <a:rPr b="1" i="1" lang="en-US" sz="2000" spc="-1" strike="noStrike">
                <a:solidFill>
                  <a:srgbClr val="000000"/>
                </a:solidFill>
                <a:latin typeface="Calibri"/>
              </a:rPr>
              <a:t>same time interval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0" name="CustomShape 6"/>
          <p:cNvSpPr/>
          <p:nvPr/>
        </p:nvSpPr>
        <p:spPr>
          <a:xfrm>
            <a:off x="630360" y="4973400"/>
            <a:ext cx="1027440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Simultaneity</a:t>
            </a:r>
            <a:r>
              <a:rPr b="1" lang="en-US" sz="2000" spc="-1" strike="noStrike">
                <a:solidFill>
                  <a:srgbClr val="002060"/>
                </a:solidFill>
                <a:latin typeface="Wingdings"/>
              </a:rPr>
              <a:t>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Simultaneous events may occur at the </a:t>
            </a:r>
            <a:r>
              <a:rPr b="1" i="1" lang="en-US" sz="2000" spc="-1" strike="noStrike">
                <a:solidFill>
                  <a:srgbClr val="000000"/>
                </a:solidFill>
                <a:latin typeface="Calibri"/>
              </a:rPr>
              <a:t>same time instant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1" name="CustomShape 7"/>
          <p:cNvSpPr/>
          <p:nvPr/>
        </p:nvSpPr>
        <p:spPr>
          <a:xfrm>
            <a:off x="630360" y="5511960"/>
            <a:ext cx="1027440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Pipelining</a:t>
            </a:r>
            <a:r>
              <a:rPr b="1" lang="en-US" sz="2000" spc="-1" strike="noStrike">
                <a:solidFill>
                  <a:srgbClr val="002060"/>
                </a:solidFill>
                <a:latin typeface="Wingdings"/>
              </a:rPr>
              <a:t>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 Pipelined events may occur in </a:t>
            </a:r>
            <a:r>
              <a:rPr b="1" i="1" lang="en-US" sz="2000" spc="-1" strike="noStrike">
                <a:solidFill>
                  <a:srgbClr val="000000"/>
                </a:solidFill>
                <a:latin typeface="Calibri"/>
              </a:rPr>
              <a:t>overlapped time spans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2" name="TextShape 8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C50FD717-968D-4BB5-B79C-7510C3AE7AC1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33" name="TextShape 9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487C5FDF-366C-4FC5-BF5D-BDDE6AEA72B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Shape 1"/>
          <p:cNvSpPr txBox="1"/>
          <p:nvPr/>
        </p:nvSpPr>
        <p:spPr>
          <a:xfrm>
            <a:off x="379800" y="144360"/>
            <a:ext cx="11433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2800" spc="-1" strike="noStrike">
                <a:solidFill>
                  <a:srgbClr val="000000"/>
                </a:solidFill>
                <a:latin typeface="Bahnschrift"/>
              </a:rPr>
              <a:t>Degree (level) of parallel processing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</a:rPr>
              <a:t>Job or Program level </a:t>
            </a:r>
            <a:r>
              <a:rPr b="1" lang="en-US" sz="22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The highest level of parallel processing is conducted among multiple jobs or programs through multiprogramming, time sharing and multiprocessing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</a:rPr>
              <a:t>Task or Procedure level </a:t>
            </a:r>
            <a:r>
              <a:rPr b="0" lang="en-US" sz="22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The next highest level of parallel processing is conducted among procedures or tasks (program segments)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</a:rPr>
              <a:t>Inter-instruction level </a:t>
            </a:r>
            <a:r>
              <a:rPr b="0" lang="en-US" sz="22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The third level exploit concurrency among multiple instructions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2200" spc="-1" strike="noStrike">
                <a:solidFill>
                  <a:srgbClr val="000000"/>
                </a:solidFill>
                <a:latin typeface="Calibri"/>
              </a:rPr>
              <a:t>Intra-instruction level </a:t>
            </a:r>
            <a:r>
              <a:rPr b="0" lang="en-US" sz="22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The final last level exploit concurrency within each instruction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5" name="CustomShape 2"/>
          <p:cNvSpPr/>
          <p:nvPr/>
        </p:nvSpPr>
        <p:spPr>
          <a:xfrm>
            <a:off x="4748040" y="1615680"/>
            <a:ext cx="275400" cy="484560"/>
          </a:xfrm>
          <a:prstGeom prst="downArrow">
            <a:avLst>
              <a:gd name="adj1" fmla="val 50000"/>
              <a:gd name="adj2" fmla="val 5000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6" name="CustomShape 3"/>
          <p:cNvSpPr/>
          <p:nvPr/>
        </p:nvSpPr>
        <p:spPr>
          <a:xfrm>
            <a:off x="4797360" y="2683440"/>
            <a:ext cx="275400" cy="484560"/>
          </a:xfrm>
          <a:prstGeom prst="downArrow">
            <a:avLst>
              <a:gd name="adj1" fmla="val 50000"/>
              <a:gd name="adj2" fmla="val 5000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7" name="CustomShape 4"/>
          <p:cNvSpPr/>
          <p:nvPr/>
        </p:nvSpPr>
        <p:spPr>
          <a:xfrm>
            <a:off x="4817520" y="3508920"/>
            <a:ext cx="275400" cy="484560"/>
          </a:xfrm>
          <a:prstGeom prst="downArrow">
            <a:avLst>
              <a:gd name="adj1" fmla="val 50000"/>
              <a:gd name="adj2" fmla="val 5000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8" name="CustomShape 5"/>
          <p:cNvSpPr/>
          <p:nvPr/>
        </p:nvSpPr>
        <p:spPr>
          <a:xfrm>
            <a:off x="-206640" y="5067360"/>
            <a:ext cx="11827800" cy="70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c00000"/>
                </a:solidFill>
                <a:latin typeface="Calibri"/>
              </a:rPr>
              <a:t>The 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highest level </a:t>
            </a:r>
            <a:r>
              <a:rPr b="1" lang="en-US" sz="2000" spc="-1" strike="noStrike">
                <a:solidFill>
                  <a:srgbClr val="c00000"/>
                </a:solidFill>
                <a:latin typeface="Calibri"/>
              </a:rPr>
              <a:t>of parallelism is often conducted 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algorithmically</a:t>
            </a:r>
            <a:r>
              <a:rPr b="1" lang="en-US" sz="2000" spc="-1" strike="noStrike">
                <a:solidFill>
                  <a:srgbClr val="c00000"/>
                </a:solidFill>
                <a:latin typeface="Calibri"/>
              </a:rPr>
              <a:t> and the 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lowest</a:t>
            </a:r>
            <a:r>
              <a:rPr b="1" lang="en-US" sz="2000" spc="-1" strike="noStrike">
                <a:solidFill>
                  <a:srgbClr val="c00000"/>
                </a:solidFill>
                <a:latin typeface="Calibri"/>
              </a:rPr>
              <a:t> level is implemented by 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hardware means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9" name="TextShape 6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9B1FF372-53FE-4212-9A0E-7DF2B1C811A4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40" name="TextShape 7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E46F0A6B-4C55-46C3-A8D0-838BB55C79E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Shape 1"/>
          <p:cNvSpPr txBox="1"/>
          <p:nvPr/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Parallel Computer Structures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TextShape 2"/>
          <p:cNvSpPr txBox="1"/>
          <p:nvPr/>
        </p:nvSpPr>
        <p:spPr>
          <a:xfrm>
            <a:off x="838080" y="1515960"/>
            <a:ext cx="1110780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i="1" lang="en-US" sz="2400" spc="-1" strike="noStrike">
                <a:solidFill>
                  <a:srgbClr val="000000"/>
                </a:solidFill>
                <a:latin typeface="Calibri"/>
              </a:rPr>
              <a:t>Parallel computers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are those systems that emphasize parallel processing. Parallel computers are divided into three architectural configurations: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1. Pipeline computers 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Perform overlapped computations to exploit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temporal parallelism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2. Array processors 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Use multiple synchronized arithmetic logic units to achieve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spatial parallelism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141720" indent="-3141360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3. Multiprocessor systems 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Use a set of interactive processors with shared resources(memory, etc.) to achieve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asynchronous parallelism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630A2EA9-745D-4333-83F0-43F91FAB5FE9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44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94E1A132-D42B-4D10-B14F-EE360AF9247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Shape 1"/>
          <p:cNvSpPr txBox="1"/>
          <p:nvPr/>
        </p:nvSpPr>
        <p:spPr>
          <a:xfrm>
            <a:off x="379800" y="144360"/>
            <a:ext cx="11433240" cy="64332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2800" spc="-1" strike="noStrike">
                <a:solidFill>
                  <a:srgbClr val="000000"/>
                </a:solidFill>
                <a:latin typeface="Bahnschrift"/>
              </a:rPr>
              <a:t>Temporal parallelism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Temporal parallelism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or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 pipelining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refers to the execution of a task as a </a:t>
            </a:r>
            <a:r>
              <a:rPr b="1" i="1" lang="en-US" sz="2000" spc="-1" strike="noStrike">
                <a:solidFill>
                  <a:srgbClr val="002060"/>
                </a:solidFill>
                <a:latin typeface="Calibri"/>
              </a:rPr>
              <a:t>'cascade'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i="1" lang="en-US" sz="2000" spc="-1" strike="noStrike">
                <a:solidFill>
                  <a:srgbClr val="002060"/>
                </a:solidFill>
                <a:latin typeface="Calibri"/>
              </a:rPr>
              <a:t>of sub-tasks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There exists one functional unit to carry out each sub-task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All these successive units can work at the same time, in an overlapped fashion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As data are processed by a given unit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U</a:t>
            </a:r>
            <a:r>
              <a:rPr b="1" lang="en-US" sz="2000" spc="-1" strike="noStrike" baseline="-20000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, they are sent to the next unit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U</a:t>
            </a:r>
            <a:r>
              <a:rPr b="1" lang="en-US" sz="2000" spc="-1" strike="noStrike" baseline="-20000">
                <a:solidFill>
                  <a:srgbClr val="000000"/>
                </a:solidFill>
                <a:latin typeface="Calibri"/>
              </a:rPr>
              <a:t>i+1</a:t>
            </a:r>
            <a:r>
              <a:rPr b="0" lang="en-US" sz="2000" spc="-1" strike="noStrike" baseline="-20000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 the unit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U</a:t>
            </a:r>
            <a:r>
              <a:rPr b="1" lang="en-US" sz="2000" spc="-1" strike="noStrike" baseline="-20000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restarts its processing on new data, analogously to the flow of work in a car production line. Each functional unit can be seen as a "specialized" processor in the sense that it always execute the same sub-task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6" name="Picture 1" descr=""/>
          <p:cNvPicPr/>
          <p:nvPr/>
        </p:nvPicPr>
        <p:blipFill>
          <a:blip r:embed="rId1"/>
          <a:stretch/>
        </p:blipFill>
        <p:spPr>
          <a:xfrm rot="16200000">
            <a:off x="3449520" y="2243160"/>
            <a:ext cx="2288880" cy="6658920"/>
          </a:xfrm>
          <a:prstGeom prst="rect">
            <a:avLst/>
          </a:prstGeom>
          <a:ln>
            <a:noFill/>
          </a:ln>
        </p:spPr>
      </p:pic>
      <p:sp>
        <p:nvSpPr>
          <p:cNvPr id="247" name="CustomShape 2"/>
          <p:cNvSpPr/>
          <p:nvPr/>
        </p:nvSpPr>
        <p:spPr>
          <a:xfrm>
            <a:off x="2590200" y="5476680"/>
            <a:ext cx="397800" cy="39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U</a:t>
            </a:r>
            <a:r>
              <a:rPr b="1" lang="en-US" sz="1800" spc="-1" strike="noStrike" baseline="-20000">
                <a:solidFill>
                  <a:srgbClr val="000000"/>
                </a:solidFill>
                <a:latin typeface="Calibri"/>
              </a:rPr>
              <a:t>i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8" name="CustomShape 3"/>
          <p:cNvSpPr/>
          <p:nvPr/>
        </p:nvSpPr>
        <p:spPr>
          <a:xfrm>
            <a:off x="3944160" y="5476680"/>
            <a:ext cx="579600" cy="39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U</a:t>
            </a:r>
            <a:r>
              <a:rPr b="1" lang="en-US" sz="1800" spc="-1" strike="noStrike" baseline="-20000">
                <a:solidFill>
                  <a:srgbClr val="000000"/>
                </a:solidFill>
                <a:latin typeface="Calibri"/>
              </a:rPr>
              <a:t>i+1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9" name="CustomShape 4"/>
          <p:cNvSpPr/>
          <p:nvPr/>
        </p:nvSpPr>
        <p:spPr>
          <a:xfrm>
            <a:off x="6578640" y="5476680"/>
            <a:ext cx="579600" cy="39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U</a:t>
            </a:r>
            <a:r>
              <a:rPr b="1" lang="en-US" sz="1800" spc="-1" strike="noStrike" baseline="-20000">
                <a:solidFill>
                  <a:srgbClr val="000000"/>
                </a:solidFill>
                <a:latin typeface="Calibri"/>
              </a:rPr>
              <a:t>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0" name="CustomShape 5"/>
          <p:cNvSpPr/>
          <p:nvPr/>
        </p:nvSpPr>
        <p:spPr>
          <a:xfrm>
            <a:off x="3681360" y="6346800"/>
            <a:ext cx="3476880" cy="49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7030a0"/>
                </a:solidFill>
                <a:latin typeface="Calibri"/>
              </a:rPr>
              <a:t>X</a:t>
            </a:r>
            <a:r>
              <a:rPr b="1" lang="en-US" sz="2400" spc="-1" strike="noStrike" baseline="-20000">
                <a:solidFill>
                  <a:srgbClr val="7030a0"/>
                </a:solidFill>
                <a:latin typeface="Calibri"/>
              </a:rPr>
              <a:t>i</a:t>
            </a:r>
            <a:r>
              <a:rPr b="1" lang="en-US" sz="2400" spc="-1" strike="noStrike">
                <a:solidFill>
                  <a:srgbClr val="7030a0"/>
                </a:solidFill>
                <a:latin typeface="Calibri"/>
              </a:rPr>
              <a:t> = X</a:t>
            </a:r>
            <a:r>
              <a:rPr b="1" lang="en-US" sz="2400" spc="-1" strike="noStrike" baseline="-20000">
                <a:solidFill>
                  <a:srgbClr val="7030a0"/>
                </a:solidFill>
                <a:latin typeface="Calibri"/>
              </a:rPr>
              <a:t>i+1, </a:t>
            </a:r>
            <a:r>
              <a:rPr b="1" lang="en-US" sz="2400" spc="-1" strike="noStrike">
                <a:solidFill>
                  <a:srgbClr val="7030a0"/>
                </a:solidFill>
                <a:latin typeface="Calibri"/>
              </a:rPr>
              <a:t>X</a:t>
            </a:r>
            <a:r>
              <a:rPr b="1" lang="en-US" sz="2400" spc="-1" strike="noStrike" baseline="-20000">
                <a:solidFill>
                  <a:srgbClr val="7030a0"/>
                </a:solidFill>
                <a:latin typeface="Calibri"/>
              </a:rPr>
              <a:t>i+2</a:t>
            </a:r>
            <a:r>
              <a:rPr b="1" lang="en-US" sz="2400" spc="-1" strike="noStrike">
                <a:solidFill>
                  <a:srgbClr val="7030a0"/>
                </a:solidFill>
                <a:latin typeface="Calibri"/>
              </a:rPr>
              <a:t>, …. X</a:t>
            </a:r>
            <a:r>
              <a:rPr b="1" lang="en-US" sz="2400" spc="-1" strike="noStrike" baseline="-20000">
                <a:solidFill>
                  <a:srgbClr val="7030a0"/>
                </a:solidFill>
                <a:latin typeface="Calibri"/>
              </a:rPr>
              <a:t>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1" name="TextShape 6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609ED495-5248-4564-824E-0460740B6B89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52" name="TextShape 7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8341266C-6D97-4691-BED4-A54B57E78D2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Shape 1"/>
          <p:cNvSpPr txBox="1"/>
          <p:nvPr/>
        </p:nvSpPr>
        <p:spPr>
          <a:xfrm>
            <a:off x="379800" y="144360"/>
            <a:ext cx="11433240" cy="64332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2800" spc="-1" strike="noStrike">
                <a:solidFill>
                  <a:srgbClr val="000000"/>
                </a:solidFill>
                <a:latin typeface="Bahnschrift"/>
              </a:rPr>
              <a:t>Spatial parallelism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Spatial parallelism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refers to the </a:t>
            </a:r>
            <a:r>
              <a:rPr b="1" i="1" lang="en-US" sz="2000" spc="-1" strike="noStrike">
                <a:solidFill>
                  <a:srgbClr val="002060"/>
                </a:solidFill>
                <a:latin typeface="Calibri"/>
              </a:rPr>
              <a:t>simultaneous execution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of tasks by </a:t>
            </a:r>
            <a:r>
              <a:rPr b="1" i="1" lang="en-US" sz="2000" spc="-1" strike="noStrike">
                <a:solidFill>
                  <a:srgbClr val="002060"/>
                </a:solidFill>
                <a:latin typeface="Calibri"/>
              </a:rPr>
              <a:t>several processing units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At a given instant, these units can be executing the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same task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(or instruction) or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different tasks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. The former case is called </a:t>
            </a:r>
            <a:r>
              <a:rPr b="1" i="1" lang="en-US" sz="2000" spc="-1" strike="noStrike">
                <a:solidFill>
                  <a:srgbClr val="002060"/>
                </a:solidFill>
                <a:latin typeface="Calibri"/>
              </a:rPr>
              <a:t>SIMD </a:t>
            </a:r>
            <a:r>
              <a:rPr b="1" i="1" lang="en-US" sz="2000" spc="-1" strike="noStrike">
                <a:solidFill>
                  <a:srgbClr val="ff0000"/>
                </a:solidFill>
                <a:latin typeface="Calibri"/>
              </a:rPr>
              <a:t>(Single Instruction stream, Multiple Data stream)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, whereas the latter is called </a:t>
            </a:r>
            <a:r>
              <a:rPr b="1" i="1" lang="en-US" sz="2000" spc="-1" strike="noStrike">
                <a:solidFill>
                  <a:srgbClr val="002060"/>
                </a:solidFill>
                <a:latin typeface="Calibri"/>
              </a:rPr>
              <a:t>MIMD</a:t>
            </a:r>
            <a:r>
              <a:rPr b="1" i="1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i="1" lang="en-US" sz="2000" spc="-1" strike="noStrike">
                <a:solidFill>
                  <a:srgbClr val="ff0000"/>
                </a:solidFill>
                <a:latin typeface="Calibri"/>
              </a:rPr>
              <a:t>(Multiple Instruction stream, Multiple Data stream)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54" name="Picture 3" descr=""/>
          <p:cNvPicPr/>
          <p:nvPr/>
        </p:nvPicPr>
        <p:blipFill>
          <a:blip r:embed="rId1"/>
          <a:stretch/>
        </p:blipFill>
        <p:spPr>
          <a:xfrm rot="16200000">
            <a:off x="4255560" y="671760"/>
            <a:ext cx="3124800" cy="7978680"/>
          </a:xfrm>
          <a:prstGeom prst="rect">
            <a:avLst/>
          </a:prstGeom>
          <a:ln>
            <a:noFill/>
          </a:ln>
        </p:spPr>
      </p:pic>
      <p:sp>
        <p:nvSpPr>
          <p:cNvPr id="255" name="CustomShape 2"/>
          <p:cNvSpPr/>
          <p:nvPr/>
        </p:nvSpPr>
        <p:spPr>
          <a:xfrm>
            <a:off x="3346200" y="3960720"/>
            <a:ext cx="591120" cy="39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U</a:t>
            </a:r>
            <a:r>
              <a:rPr b="1" lang="en-US" sz="1800" spc="-1" strike="noStrike" baseline="-20000">
                <a:solidFill>
                  <a:srgbClr val="000000"/>
                </a:solidFill>
                <a:latin typeface="Calibri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CustomShape 3"/>
          <p:cNvSpPr/>
          <p:nvPr/>
        </p:nvSpPr>
        <p:spPr>
          <a:xfrm>
            <a:off x="5386680" y="3960720"/>
            <a:ext cx="591120" cy="39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U</a:t>
            </a:r>
            <a:r>
              <a:rPr b="1" lang="en-US" sz="1800" spc="-1" strike="noStrike" baseline="-20000">
                <a:solidFill>
                  <a:srgbClr val="000000"/>
                </a:solidFill>
                <a:latin typeface="Calibri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7" name="CustomShape 4"/>
          <p:cNvSpPr/>
          <p:nvPr/>
        </p:nvSpPr>
        <p:spPr>
          <a:xfrm>
            <a:off x="8734320" y="3960720"/>
            <a:ext cx="591120" cy="39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U</a:t>
            </a:r>
            <a:r>
              <a:rPr b="1" lang="en-US" sz="1800" spc="-1" strike="noStrike" baseline="-20000">
                <a:solidFill>
                  <a:srgbClr val="000000"/>
                </a:solidFill>
                <a:latin typeface="Calibri"/>
              </a:rPr>
              <a:t>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8" name="CustomShape 5"/>
          <p:cNvSpPr/>
          <p:nvPr/>
        </p:nvSpPr>
        <p:spPr>
          <a:xfrm>
            <a:off x="8218080" y="6062400"/>
            <a:ext cx="3476880" cy="49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7030a0"/>
                </a:solidFill>
                <a:latin typeface="Calibri"/>
              </a:rPr>
              <a:t>X</a:t>
            </a:r>
            <a:r>
              <a:rPr b="1" lang="en-US" sz="2400" spc="-1" strike="noStrike" baseline="-20000">
                <a:solidFill>
                  <a:srgbClr val="7030a0"/>
                </a:solidFill>
                <a:latin typeface="Calibri"/>
              </a:rPr>
              <a:t>i</a:t>
            </a:r>
            <a:r>
              <a:rPr b="1" lang="en-US" sz="2400" spc="-1" strike="noStrike">
                <a:solidFill>
                  <a:srgbClr val="7030a0"/>
                </a:solidFill>
                <a:latin typeface="Calibri"/>
              </a:rPr>
              <a:t> = X</a:t>
            </a:r>
            <a:r>
              <a:rPr b="1" lang="en-US" sz="2400" spc="-1" strike="noStrike" baseline="-20000">
                <a:solidFill>
                  <a:srgbClr val="7030a0"/>
                </a:solidFill>
                <a:latin typeface="Calibri"/>
              </a:rPr>
              <a:t>i+1, </a:t>
            </a:r>
            <a:r>
              <a:rPr b="1" lang="en-US" sz="2400" spc="-1" strike="noStrike">
                <a:solidFill>
                  <a:srgbClr val="7030a0"/>
                </a:solidFill>
                <a:latin typeface="Calibri"/>
              </a:rPr>
              <a:t>X</a:t>
            </a:r>
            <a:r>
              <a:rPr b="1" lang="en-US" sz="2400" spc="-1" strike="noStrike" baseline="-20000">
                <a:solidFill>
                  <a:srgbClr val="7030a0"/>
                </a:solidFill>
                <a:latin typeface="Calibri"/>
              </a:rPr>
              <a:t>i+2</a:t>
            </a:r>
            <a:r>
              <a:rPr b="1" lang="en-US" sz="2400" spc="-1" strike="noStrike">
                <a:solidFill>
                  <a:srgbClr val="7030a0"/>
                </a:solidFill>
                <a:latin typeface="Calibri"/>
              </a:rPr>
              <a:t>, …. X</a:t>
            </a:r>
            <a:r>
              <a:rPr b="1" lang="en-US" sz="2400" spc="-1" strike="noStrike" baseline="-20000">
                <a:solidFill>
                  <a:srgbClr val="7030a0"/>
                </a:solidFill>
                <a:latin typeface="Calibri"/>
              </a:rPr>
              <a:t>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9" name="TextShape 6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CD7475D3-8040-4128-B1C0-B162A8F37E8A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60" name="TextShape 7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1EF40F38-FBF4-4CB4-B0B8-9C09669BF33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41" dur="indefinite" restart="never" nodeType="tmRoot">
          <p:childTnLst>
            <p:seq>
              <p:cTn id="4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Shape 1"/>
          <p:cNvSpPr txBox="1"/>
          <p:nvPr/>
        </p:nvSpPr>
        <p:spPr>
          <a:xfrm>
            <a:off x="438840" y="225000"/>
            <a:ext cx="11344680" cy="64998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51444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1" i="1" lang="en-US" sz="3200" spc="-1" strike="noStrike">
                <a:solidFill>
                  <a:srgbClr val="000000"/>
                </a:solidFill>
                <a:latin typeface="Calibri"/>
              </a:rPr>
              <a:t>Pipeline computers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Normally, the process of executing an instruction in a digital computer involves four major steps: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1. 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Instruction Fetch </a:t>
            </a:r>
            <a:r>
              <a:rPr b="1" lang="en-US" sz="2000" spc="-1" strike="noStrike">
                <a:solidFill>
                  <a:srgbClr val="c00000"/>
                </a:solidFill>
                <a:latin typeface="Calibri"/>
              </a:rPr>
              <a:t>(IF)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fetching instruction from the main memory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2. 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Instruction Decoding </a:t>
            </a:r>
            <a:r>
              <a:rPr b="1" lang="en-US" sz="2000" spc="-1" strike="noStrike">
                <a:solidFill>
                  <a:srgbClr val="c00000"/>
                </a:solidFill>
                <a:latin typeface="Calibri"/>
              </a:rPr>
              <a:t>(ID) 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identifying the operation to be performed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3. 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Operand Fetch </a:t>
            </a:r>
            <a:r>
              <a:rPr b="1" lang="en-US" sz="2000" spc="-1" strike="noStrike">
                <a:solidFill>
                  <a:srgbClr val="c00000"/>
                </a:solidFill>
                <a:latin typeface="Calibri"/>
              </a:rPr>
              <a:t>(OF)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fetching the operands is needed in the execution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4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. Execution </a:t>
            </a:r>
            <a:r>
              <a:rPr b="1" lang="en-US" sz="2000" spc="-1" strike="noStrike">
                <a:solidFill>
                  <a:srgbClr val="c00000"/>
                </a:solidFill>
                <a:latin typeface="Calibri"/>
              </a:rPr>
              <a:t>(EX)</a:t>
            </a:r>
            <a:r>
              <a:rPr b="1" lang="en-US" sz="2000" spc="-1" strike="noStrike">
                <a:solidFill>
                  <a:srgbClr val="00206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Execution of the decoded arithmetic-logic operation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 a nonpipelined computer,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these four steps must be completed before the next instruction can be issued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ln a pipelined computer,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successive instructions are executed in an overlapped fashion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. The Four pipeline stages, lF, ID, OF, and EX, are arranged into a linear cascade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two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space-time diagrams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 the next slide show the difference between overlapped instruction execution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(pipelining)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 sequentially nonoverlapped execution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(non-pipelining)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TextShape 2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ED55BB5B-2A2A-4735-8564-852031AD8092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63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87FCA10D-F976-41E0-9A3A-FEB55F95177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43" dur="indefinite" restart="never" nodeType="tmRoot">
          <p:childTnLst>
            <p:seq>
              <p:cTn id="4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Shape 1"/>
          <p:cNvSpPr txBox="1"/>
          <p:nvPr/>
        </p:nvSpPr>
        <p:spPr>
          <a:xfrm>
            <a:off x="423360" y="132840"/>
            <a:ext cx="11344680" cy="64998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i="1" lang="en-US" sz="3200" spc="-1" strike="noStrike">
                <a:solidFill>
                  <a:srgbClr val="000000"/>
                </a:solidFill>
                <a:latin typeface="Calibri"/>
              </a:rPr>
              <a:t>Pipeline computers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65" name="Picture 1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658440"/>
            <a:ext cx="9350280" cy="6066360"/>
          </a:xfrm>
          <a:prstGeom prst="rect">
            <a:avLst/>
          </a:prstGeom>
          <a:ln>
            <a:noFill/>
          </a:ln>
        </p:spPr>
      </p:pic>
      <p:sp>
        <p:nvSpPr>
          <p:cNvPr id="266" name="CustomShape 2"/>
          <p:cNvSpPr/>
          <p:nvPr/>
        </p:nvSpPr>
        <p:spPr>
          <a:xfrm>
            <a:off x="7315200" y="225000"/>
            <a:ext cx="4876560" cy="502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marL="285840" indent="-2854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 pipeline cycle can be set equal to the delay of the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slowest stage</a:t>
            </a:r>
            <a:endParaRPr b="0" lang="en-US" sz="18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85840" indent="-2854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flow of data (input operands, intermediate results, and output results) from stage to stage is triggered by a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common clock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of the pipeline</a:t>
            </a:r>
            <a:endParaRPr b="0" lang="en-US" sz="18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85840" indent="-2854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operation of all stages is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synchronized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under a common clock control</a:t>
            </a:r>
            <a:endParaRPr b="0" lang="en-US" sz="18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85840" indent="-2854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Interface latches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are used between adjacent segments to hold the intermediate results</a:t>
            </a:r>
            <a:endParaRPr b="0" lang="en-US" sz="1800" spc="-1" strike="noStrike"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marL="285840" indent="-285480" algn="just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instruction cycle has been effectively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reduced to one-fourth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of the original cycle time by such overlapped execution.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267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59D743E8-54DC-42EE-836B-75C96263A2DE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68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B7978B8F-EF47-4466-B28C-A71F5E2F8F7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45" dur="indefinite" restart="never" nodeType="tmRoot">
          <p:childTnLst>
            <p:seq>
              <p:cTn id="4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Shape 1"/>
          <p:cNvSpPr txBox="1"/>
          <p:nvPr/>
        </p:nvSpPr>
        <p:spPr>
          <a:xfrm>
            <a:off x="438840" y="225000"/>
            <a:ext cx="11344680" cy="64998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i="1" lang="en-US" sz="3200" spc="-1" strike="noStrike">
                <a:solidFill>
                  <a:srgbClr val="000000"/>
                </a:solidFill>
                <a:latin typeface="Calibri"/>
              </a:rPr>
              <a:t>Pipeline computers (limitations)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Due to the overlapped instruction and arithmetic execution, it is obvious that pipeline machines are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better tuned to perform the same operations repeatedly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through the pipeline.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Whenever there is a change of operation, say from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add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to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multiply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, the arithmetic pipeline must be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drained and reconfigured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, which will cause extra time delays.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Therefore, pipeline computers are more attractive for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vector processing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, where component operations may be repeated many times.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Pipeline computer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TextShape 2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9D5035C6-A571-4861-BE4A-CD550D0C6CE4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71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F951B8E0-33AD-48E4-A8AF-51E54FD77A3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47" dur="indefinite" restart="never" nodeType="tmRoot">
          <p:childTnLst>
            <p:seq>
              <p:cTn id="4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Shape 1"/>
          <p:cNvSpPr txBox="1"/>
          <p:nvPr/>
        </p:nvSpPr>
        <p:spPr>
          <a:xfrm>
            <a:off x="438840" y="225000"/>
            <a:ext cx="11344680" cy="64998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i="1" lang="en-US" sz="5100" spc="-1" strike="noStrike">
                <a:solidFill>
                  <a:srgbClr val="000000"/>
                </a:solidFill>
                <a:latin typeface="Calibri"/>
              </a:rPr>
              <a:t>2.</a:t>
            </a:r>
            <a:r>
              <a:rPr b="1" i="1" lang="en-US" sz="4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i="1" lang="en-US" sz="5100" spc="-1" strike="noStrike">
                <a:solidFill>
                  <a:srgbClr val="000000"/>
                </a:solidFill>
                <a:latin typeface="Calibri"/>
              </a:rPr>
              <a:t>Array computers</a:t>
            </a:r>
            <a:endParaRPr b="0" lang="en-US" sz="51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51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array processor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is a synchronous parallel computer with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multiple arithmetic logic units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, called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processing elements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(PE), that can operate in parallel in a lock- step fashion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By replication of ALUs, we can achieve the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spatial parallelism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PEs are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synchronized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perform the same function at the same time             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Scalar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and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control-type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instructions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are directly executed in the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control unit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(CU)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Each PE consists of an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ALU with registers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a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local memory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                                                                                     </a:t>
            </a:r>
            <a:r>
              <a:rPr b="1" lang="en-US" sz="28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Array computer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PEs are inter connected by a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data-routing network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Vector- instructions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are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broadcast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to the PEs for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distributed execution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over different component operands fetched directly from the local memories.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Instruction fetch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(from local memories or from the control memory) and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decode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is done by the control unit. The PEs are 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passive devices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without instruction decoding capabilities.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TextShape 2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089C2773-6843-4892-9745-90A6D68544A6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74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2C6935DC-FF60-4F4B-A679-0C0667B5488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49" dur="indefinite" restart="never" nodeType="tmRoot">
          <p:childTnLst>
            <p:seq>
              <p:cTn id="5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Shape 1"/>
          <p:cNvSpPr txBox="1"/>
          <p:nvPr/>
        </p:nvSpPr>
        <p:spPr>
          <a:xfrm>
            <a:off x="438840" y="118080"/>
            <a:ext cx="11344680" cy="6990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i="1" lang="en-US" sz="3200" spc="-1" strike="noStrike">
                <a:solidFill>
                  <a:srgbClr val="000000"/>
                </a:solidFill>
                <a:latin typeface="Calibri"/>
              </a:rPr>
              <a:t>3.  Multiprocessor systems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Research and development of multiprocessor systems are aimed at improving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throughput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,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reliability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,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flexibility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, and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availability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       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 basic multiprocessor organization is conceptually depicted in this figure </a:t>
            </a:r>
            <a:r>
              <a:rPr b="1" lang="en-US" sz="20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Multiprocessor systems</a:t>
            </a:r>
            <a:r>
              <a:rPr b="0" lang="en-US" sz="2000" spc="-1" strike="noStrike" u="sng">
                <a:solidFill>
                  <a:srgbClr val="0563c1"/>
                </a:solidFill>
                <a:uFillTx/>
                <a:latin typeface="Calibri"/>
                <a:hlinkClick r:id="rId2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system contains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two or more processors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of approximately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comparable capabilities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All processors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share access 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common sets of memory modules, I/O channels, and peripheral devices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TextShape 2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A65840DB-E652-4EF9-887C-B67C55022651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77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655EA203-18A0-4E3D-B4C8-8B050EBA3ED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51" dur="indefinite" restart="never" nodeType="tmRoot">
          <p:childTnLst>
            <p:seq>
              <p:cTn id="5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Shape 1"/>
          <p:cNvSpPr txBox="1"/>
          <p:nvPr/>
        </p:nvSpPr>
        <p:spPr>
          <a:xfrm>
            <a:off x="438840" y="118080"/>
            <a:ext cx="11344680" cy="6990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i="1" lang="en-US" sz="3200" spc="-1" strike="noStrike">
                <a:solidFill>
                  <a:srgbClr val="000000"/>
                </a:solidFill>
                <a:latin typeface="Calibri"/>
              </a:rPr>
              <a:t>Multiprocessor systems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Most importantly, the entire system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must be controlled by a single integrated operating system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providing interactions between processors and their programs at various levels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Besides the shared memories and I/O devices, each processor has its own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local memory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Interprocessor communications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can be done through the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shared memories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or through an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interrupt network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interconnection structure between the memories and processors can be implemented using: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81108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Time-shared common bus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81108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Crossbar switch network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81108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Multiport memories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9" name="TextShape 2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4877F366-7C57-42DB-BF28-9C952420C487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80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4B6590FB-467D-49D8-81E9-44CE2C9AB21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53" dur="indefinite" restart="never" nodeType="tmRoot">
          <p:childTnLst>
            <p:seq>
              <p:cTn id="5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Shape 1"/>
          <p:cNvSpPr txBox="1"/>
          <p:nvPr/>
        </p:nvSpPr>
        <p:spPr>
          <a:xfrm>
            <a:off x="401040" y="-207720"/>
            <a:ext cx="11107800" cy="11059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Architectural classification scheme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TextShape 2"/>
          <p:cNvSpPr txBox="1"/>
          <p:nvPr/>
        </p:nvSpPr>
        <p:spPr>
          <a:xfrm>
            <a:off x="401040" y="898200"/>
            <a:ext cx="11544840" cy="5475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In general, digital computers may be classified into four categories, according to the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multiplicity of instruction and data streams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(Flynn’s classification)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An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instruction  stream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is  a sequence of instructions as executed by the machine; a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data stream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is a sequence of data including input, partial, or temporary results called for by the instruction stream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There are four categories of digital computers based on the multiplicity of instruction and data streams: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89856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Single instruction stream-single data stream (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</a:rPr>
              <a:t>SISD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89856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Single instruction stream-multiple data stream (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</a:rPr>
              <a:t>SIMD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89856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Multiple instruction stream-single date stream (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</a:rPr>
              <a:t>MISD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898560" indent="-514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Multiple instruction stream-multiple data stream (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</a:rPr>
              <a:t>MIMD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Conceptually, only three types of system components are needed in the illustration. Both instructions and data are fetched from the </a:t>
            </a:r>
            <a:r>
              <a:rPr b="1" i="1" lang="en-US" sz="2200" spc="-1" strike="noStrike">
                <a:solidFill>
                  <a:srgbClr val="0070c0"/>
                </a:solidFill>
                <a:latin typeface="Calibri"/>
              </a:rPr>
              <a:t>memory modules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.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Instructions are decoded by the </a:t>
            </a:r>
            <a:r>
              <a:rPr b="1" i="1" lang="en-US" sz="2200" spc="-1" strike="noStrike">
                <a:solidFill>
                  <a:srgbClr val="0070c0"/>
                </a:solidFill>
                <a:latin typeface="Calibri"/>
              </a:rPr>
              <a:t>control unit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,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which sends the decoded instruction stream to the </a:t>
            </a:r>
            <a:r>
              <a:rPr b="1" i="1" lang="en-US" sz="2200" spc="-1" strike="noStrike">
                <a:solidFill>
                  <a:srgbClr val="0070c0"/>
                </a:solidFill>
                <a:latin typeface="Calibri"/>
              </a:rPr>
              <a:t>processor units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for execution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Each instruction stream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is generated by an </a:t>
            </a:r>
            <a:r>
              <a:rPr b="1" i="1" lang="en-US" sz="2400" spc="-1" strike="noStrike">
                <a:solidFill>
                  <a:srgbClr val="0070c0"/>
                </a:solidFill>
                <a:latin typeface="Calibri"/>
              </a:rPr>
              <a:t>independent control unit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.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</a:rPr>
              <a:t>Multiple data streams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originate from the subsystem of </a:t>
            </a:r>
            <a:r>
              <a:rPr b="1" i="1" lang="en-US" sz="2400" spc="-1" strike="noStrike">
                <a:solidFill>
                  <a:srgbClr val="0070c0"/>
                </a:solidFill>
                <a:latin typeface="Calibri"/>
              </a:rPr>
              <a:t>shared memory modules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7660FCB4-4F0A-4CC2-854A-861F212F17FC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84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8C7DE756-3172-44D6-A1A7-5947C4CB1D3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55" dur="indefinite" restart="never" nodeType="tmRoot">
          <p:childTnLst>
            <p:seq>
              <p:cTn id="5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Shape 1"/>
          <p:cNvSpPr txBox="1"/>
          <p:nvPr/>
        </p:nvSpPr>
        <p:spPr>
          <a:xfrm>
            <a:off x="408960" y="159120"/>
            <a:ext cx="11256480" cy="5887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457200" indent="-456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b="1" i="1" lang="en-US" sz="3200" spc="-1" strike="noStrike">
                <a:solidFill>
                  <a:srgbClr val="000000"/>
                </a:solidFill>
                <a:latin typeface="Calibri"/>
              </a:rPr>
              <a:t>SISD computer organization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SISD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This organization represents most serial computers available today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Instructions are executed sequentially but may be overlapped in their execution stages (pipelining)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 SISD computer may have more than one functional unit in It. All the functional units are under the supervision of one control unit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Applications: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80172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Whatever we do with our personal computers today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573120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573120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573120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TextShape 2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9C5353BC-CC1A-4B48-8D25-CD02510C5646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87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FBCA05EF-E0E9-4883-A8E2-525A122A0EE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57" dur="indefinite" restart="never" nodeType="tmRoot">
          <p:childTnLst>
            <p:seq>
              <p:cTn id="5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Shape 1"/>
          <p:cNvSpPr txBox="1"/>
          <p:nvPr/>
        </p:nvSpPr>
        <p:spPr>
          <a:xfrm>
            <a:off x="408960" y="159120"/>
            <a:ext cx="11256480" cy="5887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i="1" lang="en-US" sz="3200" spc="-1" strike="noStrike">
                <a:solidFill>
                  <a:srgbClr val="000000"/>
                </a:solidFill>
                <a:latin typeface="Calibri"/>
              </a:rPr>
              <a:t>2. SIMD computer organization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SIMD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In this organization, there are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multiple processing elements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supervised by the same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control unit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All PEs receive the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same instruction broadcast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from the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control unit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but operate on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different data sets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from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distinct data streams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The SIMD model of parallel computing consists of two parts: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A front-end computer of the usual von Neumann style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And a processor array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Applications: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80172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Image processing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80172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Matrix manipulations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80172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Sorting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TextShape 2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C9C8CAD1-AF32-48FB-8273-2047DCEDBF5D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90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C206E09B-1951-4509-9E77-6BAB1ACD282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59" dur="indefinite" restart="never" nodeType="tmRoot">
          <p:childTnLst>
            <p:seq>
              <p:cTn id="6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Shape 1"/>
          <p:cNvSpPr txBox="1"/>
          <p:nvPr/>
        </p:nvSpPr>
        <p:spPr>
          <a:xfrm>
            <a:off x="408960" y="159120"/>
            <a:ext cx="11256480" cy="5887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i="1" lang="en-US" sz="3200" spc="-1" strike="noStrike">
                <a:solidFill>
                  <a:srgbClr val="000000"/>
                </a:solidFill>
                <a:latin typeface="Calibri"/>
              </a:rPr>
              <a:t>3. MISD computer organization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MISD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In this organization, there are </a:t>
            </a:r>
            <a:r>
              <a:rPr b="1" i="1" lang="en-US" sz="2200" spc="-1" strike="noStrike">
                <a:solidFill>
                  <a:srgbClr val="0070c0"/>
                </a:solidFill>
                <a:latin typeface="Calibri"/>
              </a:rPr>
              <a:t>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processor units, each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receiving distinct instructions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operating over the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same data stream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and its derivatives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results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(output) of one processor become the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input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(operands) of the next processor in the macropipe.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This structure has received much less attention and has been challenged as impractical by some computer architects. No real embodiment of this class exists.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Applications: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80172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Space shuttle flight control computers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80172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Robot vision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TextShape 2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BB3C4139-C3CD-4756-800D-27CA3AFAE176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93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3B0E1269-A7E7-440F-B91B-A31630AAAE8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61" dur="indefinite" restart="never" nodeType="tmRoot">
          <p:childTnLst>
            <p:seq>
              <p:cTn id="6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Shape 1"/>
          <p:cNvSpPr txBox="1"/>
          <p:nvPr/>
        </p:nvSpPr>
        <p:spPr>
          <a:xfrm>
            <a:off x="408960" y="159120"/>
            <a:ext cx="11256480" cy="6698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i="1" lang="en-US" sz="3200" spc="-1" strike="noStrike">
                <a:solidFill>
                  <a:srgbClr val="000000"/>
                </a:solidFill>
                <a:latin typeface="Calibri"/>
              </a:rPr>
              <a:t>3. MIMD computer organization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MIMD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Most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multiprocessor systems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multiple computer systems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can be classified in this category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intrinsic MIMD computer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implies interactions among the </a:t>
            </a:r>
            <a:r>
              <a:rPr b="1" i="1" lang="en-US" sz="2000" spc="-1" strike="noStrike">
                <a:solidFill>
                  <a:srgbClr val="0070c0"/>
                </a:solidFill>
                <a:latin typeface="Calibri"/>
              </a:rPr>
              <a:t>n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processors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 intrinsic MIMD computer is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tightly coupled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if the degree of interactions among the processors is high. Otherwise, we consider them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loosely coupled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Most commercial MIMD computers are loosely coupled.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Applications: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80172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Computer-aided design/computer-aided manufacturing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80172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Simulation, modeling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80172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Communication switches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5" name="TextShape 2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6DED0BBF-DD38-4799-BAA2-B3BB0C58C5A2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96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5402CCF5-932F-4EE8-8CF4-1DBC92C3ECC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63" dur="indefinite" restart="never" nodeType="tmRoot">
          <p:childTnLst>
            <p:seq>
              <p:cTn id="6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Shape 1"/>
          <p:cNvSpPr txBox="1"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GPU as Parallel Computers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TextShape 2"/>
          <p:cNvSpPr txBox="1"/>
          <p:nvPr/>
        </p:nvSpPr>
        <p:spPr>
          <a:xfrm>
            <a:off x="613440" y="1135800"/>
            <a:ext cx="1095228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Since 2003, the semiconductor industry has settled on two main trajectories for designing microprocessor (MP):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72880" indent="-272520" algn="just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AutoNum type="arabicPeriod"/>
            </a:pPr>
            <a:r>
              <a:rPr b="1" i="1" lang="en-US" sz="2600" spc="-1" strike="noStrike">
                <a:solidFill>
                  <a:srgbClr val="0070c0"/>
                </a:solidFill>
                <a:latin typeface="Calibri"/>
              </a:rPr>
              <a:t>The</a:t>
            </a:r>
            <a:r>
              <a:rPr b="1" i="1" lang="en-US" sz="2200" spc="-1" strike="noStrike">
                <a:solidFill>
                  <a:srgbClr val="0070c0"/>
                </a:solidFill>
                <a:latin typeface="Calibri"/>
              </a:rPr>
              <a:t> </a:t>
            </a:r>
            <a:r>
              <a:rPr b="1" i="1" lang="en-US" sz="2600" spc="-1" strike="noStrike">
                <a:solidFill>
                  <a:srgbClr val="0070c0"/>
                </a:solidFill>
                <a:latin typeface="Calibri"/>
              </a:rPr>
              <a:t>multi-core trajectory: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  <a:p>
            <a:pPr marL="54612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It seeks to maintain the execution speed of sequential programs while moving into multiple  cores.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54612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Multicore trajectory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began as two-core processors, with the number of cores doubling every generation of MP.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801720" indent="-44892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Eg: Intel Corei7 MP which has 4 processor cores, each of which is an out-of-order, multiple instruction issue processor implementing the full x86 instruction set.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801720" indent="-40428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This MP supports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hyperthreading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with two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hardware threads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per core and is  designed to maximize the exec speed of sequential programs.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9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8D321537-EEED-4D73-8C1B-144770F19CC5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00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980BEC98-9EE3-42A1-90C2-F9861C1F787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65" dur="indefinite" restart="never" nodeType="tmRoot">
          <p:childTnLst>
            <p:seq>
              <p:cTn id="6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Shape 1"/>
          <p:cNvSpPr txBox="1"/>
          <p:nvPr/>
        </p:nvSpPr>
        <p:spPr>
          <a:xfrm>
            <a:off x="485280" y="317520"/>
            <a:ext cx="10952280" cy="62913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1" i="1" lang="en-US" sz="2600" spc="-1" strike="noStrike">
                <a:solidFill>
                  <a:srgbClr val="0070c0"/>
                </a:solidFill>
                <a:latin typeface="Calibri"/>
              </a:rPr>
              <a:t>2. The many-core (many-thread) trajectory: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It focuses more on the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execution throughput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of parallel applications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The many-cores began as a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large number of much smaller cores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, and, once again, the number of cores doubles with each generation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625320" indent="-4042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Eg: The NVIDIA GeForce GTX 280 graphics processing unit (GPU) with 240  cores, each of which is a heavily multithreaded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Many-core processors, especially the GPUs, dominated the race of Floating-point (FP) performance. The ratio between many-core GPUs and multicore CPUs for peak floating-point calculation throughput is about 10 to 1.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               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n-US" sz="22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GPU vs CPU FP performance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1" lang="en-US" sz="2200" spc="-1" strike="noStrike" u="sng">
                <a:solidFill>
                  <a:srgbClr val="000000"/>
                </a:solidFill>
                <a:uFillTx/>
                <a:latin typeface="Calibri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This gap has motivated many app developers to </a:t>
            </a:r>
            <a:r>
              <a:rPr b="0" i="1" lang="en-US" sz="2200" spc="-1" strike="noStrike">
                <a:solidFill>
                  <a:srgbClr val="000000"/>
                </a:solidFill>
                <a:latin typeface="Calibri"/>
              </a:rPr>
              <a:t>move the computationally intensive parts of their software to GPUs for execution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.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When there is more work to do, there is more opportunity to divide the work among cooperating parallel workers.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TextShape 2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760080C6-8899-4A84-BDF7-125361806449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03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5CC658CD-2B84-490A-8AE8-9A8CCC632C0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67" dur="indefinite" restart="never" nodeType="tmRoot">
          <p:childTnLst>
            <p:seq>
              <p:cTn id="6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Shape 1"/>
          <p:cNvSpPr txBox="1"/>
          <p:nvPr/>
        </p:nvSpPr>
        <p:spPr>
          <a:xfrm>
            <a:off x="838080" y="288720"/>
            <a:ext cx="10515240" cy="5932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9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Why there is such a 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large performance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gap between many-core GPUs and general-purpose multicore CPUs?</a:t>
            </a:r>
            <a:br/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5" name="TextShape 2"/>
          <p:cNvSpPr txBox="1"/>
          <p:nvPr/>
        </p:nvSpPr>
        <p:spPr>
          <a:xfrm>
            <a:off x="838080" y="882360"/>
            <a:ext cx="10515240" cy="5686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answer lies in the differences in the fundamental design philosophies between the two types of processors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GPU vs CPU architecture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7030a0"/>
                </a:solidFill>
                <a:latin typeface="Calibri"/>
              </a:rPr>
              <a:t>CPU design principle: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design of a CPU is optimized for sequential code performance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It makes use of sophisticated control logic to allow instructions from a single thread of execution to execute in parallel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large cache memories are provided to reduce the instruction and data access latencies of large complex applications </a:t>
            </a:r>
            <a:r>
              <a:rPr b="0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latency-oriented design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Memory bandwidth limit the speed of applications by limiting the rate at which data can be delivered from the memory system to processors.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6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557144F8-235B-49CD-BA6B-F70F4177072E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07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8C6F0EE0-1F0D-42B4-861B-6B007FE0B31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69" dur="indefinite" restart="never" nodeType="tmRoot">
          <p:childTnLst>
            <p:seq>
              <p:cTn id="7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Shape 1"/>
          <p:cNvSpPr txBox="1"/>
          <p:nvPr/>
        </p:nvSpPr>
        <p:spPr>
          <a:xfrm>
            <a:off x="838080" y="288720"/>
            <a:ext cx="10515240" cy="5932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</a:pPr>
            <a:r>
              <a:rPr b="1" lang="en-US" sz="2700" spc="-1" strike="noStrike">
                <a:solidFill>
                  <a:srgbClr val="000000"/>
                </a:solidFill>
                <a:latin typeface="Calibri"/>
              </a:rPr>
              <a:t>Why there is such a </a:t>
            </a:r>
            <a:r>
              <a:rPr b="1" lang="en-US" sz="2700" spc="-1" strike="noStrike">
                <a:solidFill>
                  <a:srgbClr val="c00000"/>
                </a:solidFill>
                <a:latin typeface="Calibri"/>
              </a:rPr>
              <a:t>large performance gap </a:t>
            </a:r>
            <a:r>
              <a:rPr b="1" lang="en-US" sz="2700" spc="-1" strike="noStrike">
                <a:solidFill>
                  <a:srgbClr val="000000"/>
                </a:solidFill>
                <a:latin typeface="Calibri"/>
              </a:rPr>
              <a:t>between many-core GPUs and general-purpose multicore CPUs?</a:t>
            </a:r>
            <a:br/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9" name="TextShape 2"/>
          <p:cNvSpPr txBox="1"/>
          <p:nvPr/>
        </p:nvSpPr>
        <p:spPr>
          <a:xfrm>
            <a:off x="838080" y="1139040"/>
            <a:ext cx="10515240" cy="5686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7030a0"/>
                </a:solidFill>
                <a:latin typeface="Calibri"/>
              </a:rPr>
              <a:t>GPU design principle: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design philosophy of the GPUs is shaped by the fast growing video game industry, which requires the ability to perform a massive number of floating-point calculations per video frame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GPU performs well by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executing massive numbers of threads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GPU hardware takes advantage of a large number of execution threads to find work to do when some of them are waiting for long-latency memory accesses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Small cache memories are provided to help the bandwidth requirements of applications, so multiple threads that access the same memory data need not always access the DRAM </a:t>
            </a:r>
            <a:r>
              <a:rPr b="0" i="1" lang="en-US" sz="2000" spc="-1" strike="noStrike">
                <a:solidFill>
                  <a:srgbClr val="000000"/>
                </a:solidFill>
                <a:latin typeface="Wingdings"/>
              </a:rPr>
              <a:t>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 throughput-oriented design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Most apps will use both CPUs and GPUs, executing the sequential parts on the CPU and numerically intensive parts on the GPUs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0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1FD3693D-3176-4DC2-B412-A1AB44CB39DE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11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8A1D38BB-390D-4BE1-80FB-8599C6424A0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71" dur="indefinite" restart="never" nodeType="tmRoot">
          <p:childTnLst>
            <p:seq>
              <p:cTn id="7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/>
          <p:cNvSpPr txBox="1"/>
          <p:nvPr/>
        </p:nvSpPr>
        <p:spPr>
          <a:xfrm>
            <a:off x="838080" y="288720"/>
            <a:ext cx="10515240" cy="5932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90000"/>
              </a:lnSpc>
            </a:pP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Factors to be considered by the application developers </a:t>
            </a:r>
            <a:r>
              <a:rPr b="1" lang="en-US" sz="2400" spc="-1" strike="noStrike">
                <a:solidFill>
                  <a:srgbClr val="002060"/>
                </a:solidFill>
                <a:latin typeface="Calibri"/>
              </a:rPr>
              <a:t>to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2060"/>
                </a:solidFill>
                <a:latin typeface="Calibri"/>
              </a:rPr>
              <a:t>choose the processors 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for running their applications</a:t>
            </a:r>
            <a:br/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TextShape 2"/>
          <p:cNvSpPr txBox="1"/>
          <p:nvPr/>
        </p:nvSpPr>
        <p:spPr>
          <a:xfrm>
            <a:off x="838080" y="1139040"/>
            <a:ext cx="10945440" cy="5686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Along with the performance, there are several other factors which an application developer has to look upon when selecting a processor.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64960" indent="-264600" algn="just">
              <a:lnSpc>
                <a:spcPct val="90000"/>
              </a:lnSpc>
              <a:spcBef>
                <a:spcPts val="1001"/>
              </a:spcBef>
              <a:buClr>
                <a:srgbClr val="7030a0"/>
              </a:buClr>
              <a:buFont typeface="Arial"/>
              <a:buAutoNum type="arabicPeriod"/>
            </a:pPr>
            <a:r>
              <a:rPr b="1" lang="en-US" sz="2000" spc="-1" strike="noStrike">
                <a:solidFill>
                  <a:srgbClr val="7030a0"/>
                </a:solidFill>
                <a:latin typeface="Calibri"/>
              </a:rPr>
              <a:t>Installation base: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64960" algn="just"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processors of choice must have a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very large presence in the marketplace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. The cost of software development is reduced significantly with a very large customer population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64960"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7030a0"/>
                </a:solidFill>
                <a:latin typeface="Calibri"/>
              </a:rPr>
              <a:t>2. Practical form factors and easy accessibility: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176040" indent="-175680" algn="just">
              <a:lnSpc>
                <a:spcPct val="90000"/>
              </a:lnSpc>
              <a:spcBef>
                <a:spcPts val="1001"/>
              </a:spcBef>
            </a:pPr>
            <a:r>
              <a:rPr b="1" i="1" lang="en-US" sz="2000" spc="-1" strike="noStrike">
                <a:solidFill>
                  <a:srgbClr val="7030a0"/>
                </a:solidFill>
                <a:latin typeface="Calibri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parallel software applications should be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easily accessible to customers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 should provide the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solutions to a large set of common customer needs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7030a0"/>
                </a:solidFill>
                <a:latin typeface="Calibri"/>
              </a:rPr>
              <a:t>3. Support for the IEEE floating-point standard: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64960" algn="just"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standard makes it possible to have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predictable results across processors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from different vendors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4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C9057FC9-895B-40A4-90D9-825061B60E33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15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558B7A34-A870-4B1F-BD69-F9A3EB5874A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73" dur="indefinite" restart="never" nodeType="tmRoot">
          <p:childTnLst>
            <p:seq>
              <p:cTn id="7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Shape 1"/>
          <p:cNvSpPr txBox="1"/>
          <p:nvPr/>
        </p:nvSpPr>
        <p:spPr>
          <a:xfrm>
            <a:off x="623160" y="1323720"/>
            <a:ext cx="10945440" cy="5686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7030a0"/>
                </a:solidFill>
                <a:latin typeface="Calibri"/>
              </a:rPr>
              <a:t>4. Ease of programming for accessing the GPU cores: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4428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Early GPU programmers had to use the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equivalent of graphics API functions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to access the GPU cores (tedious task)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4428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This practice was called general-purpose programming using GPU (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GPGPU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4428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These  APIs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limit the kinds of applications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that one can actually write for these chips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7030a0"/>
                </a:solidFill>
                <a:latin typeface="Calibri"/>
              </a:rPr>
              <a:t>5. Introduction of CUDA: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557280" indent="-34272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NVIDIA released CUDA (</a:t>
            </a:r>
            <a:r>
              <a:rPr b="0" lang="en-US" sz="2000" spc="-1" strike="noStrike">
                <a:solidFill>
                  <a:srgbClr val="000000"/>
                </a:solidFill>
                <a:latin typeface="Aharoni"/>
              </a:rPr>
              <a:t>Compute Unified Device Architecture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) and devoted silicon area in GPU to facilitate the ease of parallel programming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557280" indent="-34272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Along with the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change in software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,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additional hardware was added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to the chip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557280" indent="-34272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CUDA programs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do not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go through the graphics interface at all. Instead, a new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general-purpose parallel programming interface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on the silicon chip serves the requests of CUDA programs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557280" indent="-34272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All  of the other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software layers were redone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so the programmers can use the familiar C/C++ programming tools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7" name="TextShape 2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 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CustomShape 3"/>
          <p:cNvSpPr/>
          <p:nvPr/>
        </p:nvSpPr>
        <p:spPr>
          <a:xfrm>
            <a:off x="838080" y="288720"/>
            <a:ext cx="10515240" cy="59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/>
          <a:p>
            <a:pPr algn="ctr">
              <a:lnSpc>
                <a:spcPct val="90000"/>
              </a:lnSpc>
            </a:pP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Factors to be considered by the application developers </a:t>
            </a:r>
            <a:r>
              <a:rPr b="1" lang="en-US" sz="2400" spc="-1" strike="noStrike">
                <a:solidFill>
                  <a:srgbClr val="002060"/>
                </a:solidFill>
                <a:latin typeface="Calibri"/>
              </a:rPr>
              <a:t>to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002060"/>
                </a:solidFill>
                <a:latin typeface="Calibri"/>
              </a:rPr>
              <a:t>choose the processors 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for running their applications</a:t>
            </a:r>
            <a:br/>
            <a:endParaRPr b="0" lang="en-US" sz="2400" spc="-1" strike="noStrike">
              <a:latin typeface="Arial"/>
            </a:endParaRPr>
          </a:p>
        </p:txBody>
      </p:sp>
      <p:sp>
        <p:nvSpPr>
          <p:cNvPr id="319" name="TextShape 4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F241B994-C153-429E-8701-E2CAE73875C4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20" name="TextShape 5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2D03285D-989C-456C-9070-CA2CDD31166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75" dur="indefinite" restart="never" nodeType="tmRoot">
          <p:childTnLst>
            <p:seq>
              <p:cTn id="7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Shape 1"/>
          <p:cNvSpPr txBox="1"/>
          <p:nvPr/>
        </p:nvSpPr>
        <p:spPr>
          <a:xfrm>
            <a:off x="838080" y="0"/>
            <a:ext cx="10515240" cy="766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Architecture of a Modern GPU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2" name="TextShape 2"/>
          <p:cNvSpPr txBox="1"/>
          <p:nvPr/>
        </p:nvSpPr>
        <p:spPr>
          <a:xfrm>
            <a:off x="613440" y="766800"/>
            <a:ext cx="11302560" cy="5987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lang="en-US" sz="36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Modern GPU architecture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It is organized into an array of highly threaded </a:t>
            </a:r>
            <a:r>
              <a:rPr b="0" i="1" lang="en-US" sz="3600" spc="-1" strike="noStrike">
                <a:solidFill>
                  <a:srgbClr val="000000"/>
                </a:solidFill>
                <a:latin typeface="Calibri"/>
              </a:rPr>
              <a:t>streaming multiprocessors 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(SMs)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In the figure, two SMs form a building block; however, the number of SMs in a building block can vary from one generation of CUDA GPUs to another generation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Each SM has a number of </a:t>
            </a:r>
            <a:r>
              <a:rPr b="0" i="1" lang="en-US" sz="3600" spc="-1" strike="noStrike">
                <a:solidFill>
                  <a:srgbClr val="000000"/>
                </a:solidFill>
                <a:latin typeface="Calibri"/>
              </a:rPr>
              <a:t>streaming processors 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(SPs) that share control logic and instruction cache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Each GPU currently comes with up to 4 GB of graphics double data rate (GDDR) DRAM, referred to as </a:t>
            </a:r>
            <a:r>
              <a:rPr b="0" i="1" lang="en-US" sz="3600" spc="-1" strike="noStrike">
                <a:solidFill>
                  <a:srgbClr val="000000"/>
                </a:solidFill>
                <a:latin typeface="Calibri"/>
              </a:rPr>
              <a:t>global memory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     </a:t>
            </a:r>
            <a:r>
              <a:rPr b="1" lang="en-US" sz="3600" spc="-1" strike="noStrike" u="sng">
                <a:solidFill>
                  <a:srgbClr val="000000"/>
                </a:solidFill>
                <a:uFillTx/>
                <a:latin typeface="Calibri"/>
              </a:rPr>
              <a:t>GDDR DRAMs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4428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The GDDR DRAMs differ from the system DRAMs on the CPU motherboard in that they are essentially the frame buffer memory  that is  used  for  graphics processing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4428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For graphics applications, GDDR DRARs hold </a:t>
            </a:r>
            <a:r>
              <a:rPr b="0" i="1" lang="en-US" sz="3600" spc="-1" strike="noStrike">
                <a:solidFill>
                  <a:srgbClr val="000000"/>
                </a:solidFill>
                <a:latin typeface="Calibri"/>
              </a:rPr>
              <a:t>video images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, and </a:t>
            </a:r>
            <a:r>
              <a:rPr b="0" i="1" lang="en-US" sz="3600" spc="-1" strike="noStrike">
                <a:solidFill>
                  <a:srgbClr val="000000"/>
                </a:solidFill>
                <a:latin typeface="Calibri"/>
              </a:rPr>
              <a:t>texture information 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i="1" lang="en-US" sz="3600" spc="-1" strike="noStrike">
                <a:solidFill>
                  <a:srgbClr val="000000"/>
                </a:solidFill>
                <a:latin typeface="Calibri"/>
              </a:rPr>
              <a:t>three-dimensional (3D) rendering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4428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For  normal computing  they  function as </a:t>
            </a:r>
            <a:r>
              <a:rPr b="0" i="1" lang="en-US" sz="3600" spc="-1" strike="noStrike">
                <a:solidFill>
                  <a:srgbClr val="000000"/>
                </a:solidFill>
                <a:latin typeface="Calibri"/>
              </a:rPr>
              <a:t>very-high-bandwidth, off-chip memory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, though with somewhat more latency than typical system memory. </a:t>
            </a:r>
            <a:r>
              <a:rPr b="0" lang="en-US" sz="3600" spc="-1" strike="noStrike">
                <a:solidFill>
                  <a:srgbClr val="000000"/>
                </a:solidFill>
                <a:latin typeface="Britannic Bold"/>
              </a:rPr>
              <a:t>For massively parallel applications, the higher bandwidth makes up for the longer latency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lang="en-US" sz="3600" spc="-1" strike="noStrike" u="sng">
                <a:solidFill>
                  <a:srgbClr val="0563c1"/>
                </a:solidFill>
                <a:uFillTx/>
                <a:latin typeface="Calibri"/>
                <a:hlinkClick r:id="rId2"/>
              </a:rPr>
              <a:t>CUDA-pape</a:t>
            </a:r>
            <a:r>
              <a:rPr b="1" lang="en-US" sz="3600" spc="-1" strike="noStrike" u="sng">
                <a:solidFill>
                  <a:srgbClr val="0563c1"/>
                </a:solidFill>
                <a:uFillTx/>
                <a:latin typeface="Calibri"/>
                <a:hlinkClick r:id="rId3"/>
              </a:rPr>
              <a:t>r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3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5963DC14-3756-4FEF-91DE-E881D26164BB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24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F5A0AD17-44CE-42A5-91F1-78AE27BE56D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77" dur="indefinite" restart="never" nodeType="tmRoot">
          <p:childTnLst>
            <p:seq>
              <p:cTn id="7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Shape 1"/>
          <p:cNvSpPr txBox="1"/>
          <p:nvPr/>
        </p:nvSpPr>
        <p:spPr>
          <a:xfrm>
            <a:off x="838080" y="0"/>
            <a:ext cx="10515240" cy="766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Need for Parallelism – Why do we need ??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6" name="TextShape 2"/>
          <p:cNvSpPr txBox="1"/>
          <p:nvPr/>
        </p:nvSpPr>
        <p:spPr>
          <a:xfrm>
            <a:off x="599040" y="1297800"/>
            <a:ext cx="11302560" cy="5987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Many applications that we have today will continue to demand for increased speed in future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When an application is suitable for parallel execution, a good implementation on a GPU can achieve more than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100 times speedup over sequential execution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Many applications of the future will be what we currently consider to be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supercomputing applications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(Superapps)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limitations of todays scientific experiments can be effectively addressed by incorporating a GPU enabled computational model to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simulate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the underlying activities. From the simulation we can measure even more details and test more hypotheses than with traditional instruments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89C47713-0B5B-4A5B-A69C-28AF6FE2C88A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28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1951DB61-BDF6-4857-811F-9B8FED068D8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79" dur="indefinite" restart="never" nodeType="tmRoot">
          <p:childTnLst>
            <p:seq>
              <p:cTn id="8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Shape 1"/>
          <p:cNvSpPr txBox="1"/>
          <p:nvPr/>
        </p:nvSpPr>
        <p:spPr>
          <a:xfrm>
            <a:off x="838080" y="0"/>
            <a:ext cx="10515240" cy="766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Need for Parallelism – Why do we need ??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0" name="TextShape 2"/>
          <p:cNvSpPr txBox="1"/>
          <p:nvPr/>
        </p:nvSpPr>
        <p:spPr>
          <a:xfrm>
            <a:off x="628200" y="1474920"/>
            <a:ext cx="11302560" cy="5987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 the future, new functionalities such as view synthesis and high-resolution display of low-resolution videos will demand that televisions have more computing power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future versions of user interfaces will incorporate higher definition, three-dimensional perspectives, voice and computer vision based interfaces, requiring even more computing speed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With increased computing speed, the future games can be based on dynamic simulation rather than pre-arranged scenes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Applications handling bigdata will require exploiting parallelism in datasets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1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E01E458A-DA8D-4A74-BFDF-FA987B70CA9F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32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C37C66AF-BFEE-4769-A19C-3E9D6B498CB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81" dur="indefinite" restart="never" nodeType="tmRoot">
          <p:childTnLst>
            <p:seq>
              <p:cTn id="8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Shape 1"/>
          <p:cNvSpPr txBox="1"/>
          <p:nvPr/>
        </p:nvSpPr>
        <p:spPr>
          <a:xfrm>
            <a:off x="838080" y="0"/>
            <a:ext cx="10515240" cy="7074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1" lang="en-US" sz="2800" spc="-1" strike="noStrike">
                <a:solidFill>
                  <a:srgbClr val="0070c0"/>
                </a:solidFill>
                <a:latin typeface="Calibri Light"/>
              </a:rPr>
              <a:t>Parallel processing applications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4" name="TextShape 2"/>
          <p:cNvSpPr txBox="1"/>
          <p:nvPr/>
        </p:nvSpPr>
        <p:spPr>
          <a:xfrm>
            <a:off x="554760" y="766800"/>
            <a:ext cx="11302560" cy="5987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Predictive Modeling and Simulations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	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Weather forecasting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Oceanography and astrophysics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Socioeconomics and government use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64960">
              <a:lnSpc>
                <a:spcPct val="90000"/>
              </a:lnSpc>
              <a:spcBef>
                <a:spcPts val="499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Engineering Design and Automation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Finite-element analysis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Computational aerodynamics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Artificial intelligence and automation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Remote sensing applications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64960">
              <a:lnSpc>
                <a:spcPct val="90000"/>
              </a:lnSpc>
              <a:spcBef>
                <a:spcPts val="499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Energy Resources Exploration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Seismic exploration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Reservoir modeling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Plasma fusion power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Nuclear reactor safety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Medical, Military, and Basic Research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Computer-aided diagnosis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Genetic engineering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Weapon research and defense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60804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Basic Research Problems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64960">
              <a:lnSpc>
                <a:spcPct val="90000"/>
              </a:lnSpc>
              <a:spcBef>
                <a:spcPts val="499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5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A1B805F5-58C6-4280-8DE9-4B6EB4CEA68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83" dur="indefinite" restart="never" nodeType="tmRoot">
          <p:childTnLst>
            <p:seq>
              <p:cTn id="8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Shape 1"/>
          <p:cNvSpPr txBox="1"/>
          <p:nvPr/>
        </p:nvSpPr>
        <p:spPr>
          <a:xfrm>
            <a:off x="838080" y="0"/>
            <a:ext cx="10515240" cy="766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Calibri Light"/>
              </a:rPr>
              <a:t>Parallel Programming Languages and Models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7" name="TextShape 2"/>
          <p:cNvSpPr txBox="1"/>
          <p:nvPr/>
        </p:nvSpPr>
        <p:spPr>
          <a:xfrm>
            <a:off x="581400" y="1039680"/>
            <a:ext cx="11302560" cy="5987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Some of the most popular 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software frameworks/standards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that allow </a:t>
            </a:r>
            <a:r>
              <a:rPr b="1" lang="en-US" sz="2400" spc="-1" strike="noStrike">
                <a:solidFill>
                  <a:srgbClr val="ff0000"/>
                </a:solidFill>
                <a:latin typeface="Calibri"/>
              </a:rPr>
              <a:t>general-purpose programming using GPU (GPGPU) 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accelerate processing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in applications are: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Wingdings" charset="2"/>
              <a:buChar char=""/>
            </a:pPr>
            <a:r>
              <a:rPr b="1" lang="en-US" sz="2000" spc="-1" strike="noStrike">
                <a:solidFill>
                  <a:srgbClr val="0070c0"/>
                </a:solidFill>
                <a:latin typeface="Calibri"/>
              </a:rPr>
              <a:t>MPI (Message Passing Interface)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Wingdings" charset="2"/>
              <a:buChar char=""/>
            </a:pPr>
            <a:r>
              <a:rPr b="1" lang="en-US" sz="2000" spc="-1" strike="noStrike">
                <a:solidFill>
                  <a:srgbClr val="0070c0"/>
                </a:solidFill>
                <a:latin typeface="Calibri"/>
              </a:rPr>
              <a:t>OpenMP (Open Multi-Processing)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7030a0"/>
              </a:buClr>
              <a:buFont typeface="Wingdings" charset="2"/>
              <a:buChar char=""/>
            </a:pPr>
            <a:r>
              <a:rPr b="1" lang="en-US" sz="2000" spc="-1" strike="noStrike">
                <a:solidFill>
                  <a:srgbClr val="7030a0"/>
                </a:solidFill>
                <a:latin typeface="Calibri"/>
              </a:rPr>
              <a:t>CUDA (Compute Unified Device Architecture)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Wingdings" charset="2"/>
              <a:buChar char=""/>
            </a:pPr>
            <a:r>
              <a:rPr b="1" lang="en-US" sz="2000" spc="-1" strike="noStrike">
                <a:solidFill>
                  <a:srgbClr val="0070c0"/>
                </a:solidFill>
                <a:latin typeface="Calibri"/>
              </a:rPr>
              <a:t>OpenCL </a:t>
            </a:r>
            <a:r>
              <a:rPr b="1" lang="en-US" sz="2000" spc="-1" strike="noStrike">
                <a:solidFill>
                  <a:srgbClr val="7030a0"/>
                </a:solidFill>
                <a:latin typeface="Calibri"/>
              </a:rPr>
              <a:t>(Open Computing Language)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52440" indent="-35208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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GPGPU is the utilization of a GPU (graphics processing unit), which would typically only handle computer graphics, to assist in performing tasks that are traditionally handled solely by the CPU (central processing unit)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8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E3241666-6FD4-414F-A139-DDAD37C3771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85" dur="indefinite" restart="never" nodeType="tmRoot">
          <p:childTnLst>
            <p:seq>
              <p:cTn id="8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Shape 1"/>
          <p:cNvSpPr txBox="1"/>
          <p:nvPr/>
        </p:nvSpPr>
        <p:spPr>
          <a:xfrm>
            <a:off x="838080" y="0"/>
            <a:ext cx="10515240" cy="766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Calibri Light"/>
              </a:rPr>
              <a:t>Parallel Programming Languages and Models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0" name="TextShape 2"/>
          <p:cNvSpPr txBox="1"/>
          <p:nvPr/>
        </p:nvSpPr>
        <p:spPr>
          <a:xfrm>
            <a:off x="613440" y="766800"/>
            <a:ext cx="11302560" cy="5987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0070c0"/>
                </a:solidFill>
                <a:latin typeface="Calibri"/>
              </a:rPr>
              <a:t>MPI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(most of the versions are open source)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Used for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scalable cluster computing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computing nodes in a cluster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do not share memory 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All data sharing and interaction among the nodes must be done through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explicit message passing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MPI have been known to run successfully on cluster computing systems with more than 100,000 nodes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amount of effort required to port an application into MPI can be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extremely high due to lack of shared memory across computing nodes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0070c0"/>
                </a:solidFill>
                <a:latin typeface="Calibri"/>
              </a:rPr>
              <a:t>OpenMP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(open source)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Used for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shared-memory multiprocessor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systems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 openMP implementation consists of a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compiler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and a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runtime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 programmer specifies </a:t>
            </a:r>
            <a:r>
              <a:rPr b="1" i="1" lang="en-US" sz="2000" spc="-1" strike="noStrike">
                <a:solidFill>
                  <a:srgbClr val="000000"/>
                </a:solidFill>
                <a:latin typeface="Calibri"/>
              </a:rPr>
              <a:t>directives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(commands) and </a:t>
            </a:r>
            <a:r>
              <a:rPr b="1" i="1" lang="en-US" sz="2000" spc="-1" strike="noStrike">
                <a:solidFill>
                  <a:srgbClr val="000000"/>
                </a:solidFill>
                <a:latin typeface="Calibri"/>
              </a:rPr>
              <a:t>pragmas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(hints) about a loop to the openMP compiler. With these directives and pragmas, openMP compiler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generate parallel code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. The runtime system supports the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</a:rPr>
              <a:t>execution of the parallel code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by managing parallel threads and resources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 OpenMP, compilers do more of the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</a:rPr>
              <a:t>automation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in managing parallel execution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1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B914F256-607F-4A63-833C-FB3BBCE2B5A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87" dur="indefinite" restart="never" nodeType="tmRoot">
          <p:childTnLst>
            <p:seq>
              <p:cTn id="8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Shape 1"/>
          <p:cNvSpPr txBox="1"/>
          <p:nvPr/>
        </p:nvSpPr>
        <p:spPr>
          <a:xfrm>
            <a:off x="838080" y="0"/>
            <a:ext cx="10515240" cy="766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Calibri Light"/>
              </a:rPr>
              <a:t>Parallel Programming Languages and Models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3" name="TextShape 2"/>
          <p:cNvSpPr txBox="1"/>
          <p:nvPr/>
        </p:nvSpPr>
        <p:spPr>
          <a:xfrm>
            <a:off x="613440" y="766800"/>
            <a:ext cx="11302560" cy="5987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7030a0"/>
                </a:solidFill>
                <a:latin typeface="Calibri"/>
              </a:rPr>
              <a:t>CUDA </a:t>
            </a:r>
            <a:r>
              <a:rPr b="1" lang="en-US" sz="2100" spc="-1" strike="noStrike">
                <a:solidFill>
                  <a:srgbClr val="000000"/>
                </a:solidFill>
                <a:latin typeface="Calibri"/>
              </a:rPr>
              <a:t>(NVIDIA proprietary)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Aspects of CUDA are similar to both MPI and OpenMP in that the </a:t>
            </a:r>
            <a:r>
              <a:rPr b="0" i="1" lang="en-US" sz="2100" spc="-1" strike="noStrike">
                <a:solidFill>
                  <a:srgbClr val="000000"/>
                </a:solidFill>
                <a:latin typeface="Calibri"/>
              </a:rPr>
              <a:t>programmer manages the parallel code constructs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CUDA provides </a:t>
            </a:r>
            <a:r>
              <a:rPr b="0" i="1" lang="en-US" sz="2100" spc="-1" strike="noStrike">
                <a:solidFill>
                  <a:srgbClr val="000000"/>
                </a:solidFill>
                <a:latin typeface="Calibri"/>
              </a:rPr>
              <a:t>shared memory </a:t>
            </a: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for parallel execution in the GPU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CUDA achieves much </a:t>
            </a:r>
            <a:r>
              <a:rPr b="0" i="1" lang="en-US" sz="2100" spc="-1" strike="noStrike">
                <a:solidFill>
                  <a:srgbClr val="000000"/>
                </a:solidFill>
                <a:latin typeface="Calibri"/>
              </a:rPr>
              <a:t>higher scalability </a:t>
            </a: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with simple, low-overhead thread management and no cache coherence hardware requirements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many super-applications fit well into the simple thread management model of CUDA and thus enjoy the scalability and performance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0070c0"/>
                </a:solidFill>
                <a:latin typeface="Calibri"/>
              </a:rPr>
              <a:t>OpenCL </a:t>
            </a:r>
            <a:r>
              <a:rPr b="1" lang="en-US" sz="2100" spc="-1" strike="noStrike">
                <a:solidFill>
                  <a:srgbClr val="000000"/>
                </a:solidFill>
                <a:latin typeface="Calibri"/>
              </a:rPr>
              <a:t>(open source)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Several major industry players, including Apple, Intel, AMD/ATI, and NVIDIA, have jointly developed a </a:t>
            </a:r>
            <a:r>
              <a:rPr b="0" i="1" lang="en-US" sz="2100" spc="-1" strike="noStrike">
                <a:solidFill>
                  <a:srgbClr val="000000"/>
                </a:solidFill>
                <a:latin typeface="Calibri"/>
              </a:rPr>
              <a:t>standardized programming model </a:t>
            </a: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called OpenCL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Similar to CUDA, the OpenCL programming model defines language extensions and runtime APIs to allow programmers to manage parallelism and data delivery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The level of programming constructs in OpenCL is still at a </a:t>
            </a:r>
            <a:r>
              <a:rPr b="0" i="1" lang="en-US" sz="2100" spc="-1" strike="noStrike">
                <a:solidFill>
                  <a:srgbClr val="000000"/>
                </a:solidFill>
                <a:latin typeface="Calibri"/>
              </a:rPr>
              <a:t>lower level </a:t>
            </a: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than CUDA and much more tedious to use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Also, the speed achieved in an application expressed in OpenCL is still </a:t>
            </a:r>
            <a:r>
              <a:rPr b="0" i="1" lang="en-US" sz="2100" spc="-1" strike="noStrike">
                <a:solidFill>
                  <a:srgbClr val="000000"/>
                </a:solidFill>
                <a:latin typeface="Calibri"/>
              </a:rPr>
              <a:t>much lower </a:t>
            </a: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than in CUDA on the platforms that support both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OpenCL is a standardized programming model in that applications developed in OpenCL can run without modification on all processors that support the OpenCL language extensions  and API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In comparison to CUDA, OpenCL relies more on APIs and less on language extensions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4" name="TextShape 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522172B1-0BA1-4C2E-A5E1-3FE4E5146E9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89" dur="indefinite" restart="never" nodeType="tmRoot">
          <p:childTnLst>
            <p:seq>
              <p:cTn id="9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Shape 1"/>
          <p:cNvSpPr txBox="1"/>
          <p:nvPr/>
        </p:nvSpPr>
        <p:spPr>
          <a:xfrm>
            <a:off x="838080" y="0"/>
            <a:ext cx="10515240" cy="766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Calibri Light"/>
              </a:rPr>
              <a:t>Parallel Programming Languages and Models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6" name="TextShape 2"/>
          <p:cNvSpPr txBox="1"/>
          <p:nvPr/>
        </p:nvSpPr>
        <p:spPr>
          <a:xfrm>
            <a:off x="444600" y="766800"/>
            <a:ext cx="11302560" cy="5987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CUDA vs OpenCL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b="1" lang="en-US" sz="2000" spc="-1" strike="noStrike" u="sng">
                <a:solidFill>
                  <a:srgbClr val="0563c1"/>
                </a:solidFill>
                <a:uFillTx/>
                <a:latin typeface="Calibri"/>
                <a:hlinkClick r:id="rId2"/>
              </a:rPr>
              <a:t>CPU vs GPU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7" name="TextShape 3"/>
          <p:cNvSpPr txBox="1"/>
          <p:nvPr/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fld id="{FD34BD2C-500A-427E-BC88-DB5A827C28FD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01/16/2024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48" name="TextShape 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r">
              <a:lnSpc>
                <a:spcPct val="100000"/>
              </a:lnSpc>
            </a:pPr>
            <a:fld id="{89150169-9797-4911-BB59-3920210653D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  <p:timing>
    <p:tnLst>
      <p:par>
        <p:cTn id="91" dur="indefinite" restart="never" nodeType="tmRoot">
          <p:childTnLst>
            <p:seq>
              <p:cTn id="9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</TotalTime>
  <Application>LibreOffice/6.0.7.3$Linux_X86_64 LibreOffice_project/00m0$Build-3</Application>
  <Words>3377</Words>
  <Paragraphs>550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2021-02-03T05:09:50Z</dcterms:created>
  <dc:creator>Bhargav J Bhatkalkar [MAHE-MIT]</dc:creator>
  <dc:description/>
  <dc:language>en-US</dc:language>
  <cp:lastModifiedBy/>
  <dcterms:modified xsi:type="dcterms:W3CDTF">2024-01-16T12:32:53Z</dcterms:modified>
  <cp:revision>111</cp:revision>
  <dc:subject/>
  <dc:title>Introduction to Parallel Architectures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4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39</vt:i4>
  </property>
</Properties>
</file>